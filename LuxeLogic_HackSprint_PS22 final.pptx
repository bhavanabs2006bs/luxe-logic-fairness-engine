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10287000" cx="18288000"/>
  <p:notesSz cx="6858000" cy="9144000"/>
  <p:embeddedFontLst>
    <p:embeddedFont>
      <p:font typeface="Playfair Display SemiBold"/>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7" roundtripDataSignature="AMtx7mhRct6WhpjnLYkE824ii1GYaFHa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font" Target="fonts/PlayfairDisplaySemiBold-regular.fntdata"/><Relationship Id="rId14" Type="http://schemas.openxmlformats.org/officeDocument/2006/relationships/font" Target="fonts/PlayfairDisplaySemiBold-bold.fntdata"/><Relationship Id="rId15" Type="http://schemas.openxmlformats.org/officeDocument/2006/relationships/font" Target="fonts/PlayfairDisplaySemiBold-italic.fntdata"/><Relationship Id="rId16" Type="http://schemas.openxmlformats.org/officeDocument/2006/relationships/font" Target="fonts/PlayfairDisplaySemiBold-boldItalic.fntdata"/><Relationship Id="rId1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Introduce the team (Luxe Logic) and the track: AI Automation with n8n, PS22.</a:t>
            </a: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Use the thermostat analogy: sense, compare, act, with a human in the loop. Stress fairness debt and visible trade-offs.</a:t>
            </a:r>
          </a:p>
        </p:txBody>
      </p:sp>
      <p:sp>
        <p:nvSpPr>
          <p:cNvPr id="123" name="Google Shape;12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Key point: numbers come from deterministic Code nodes; the LLM only explains and reads free text.</a:t>
            </a:r>
          </a:p>
        </p:txBody>
      </p:sp>
      <p:sp>
        <p:nvSpPr>
          <p:cNvPr id="130" name="Google Shape;13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Walk top to bottom. The formula is the heart of the fairness logic: debt raises priority for wards that were underserved before.</a:t>
            </a:r>
          </a:p>
        </p:txBody>
      </p:sp>
      <p:sp>
        <p:nvSpPr>
          <p:cNvPr id="137" name="Google Shape;13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Trace one cycle: data enters P1, is scored in P2 and P3, two plans are built in P4, the officer approves in P5, then P6 dispatches and updates the ledger.</a:t>
            </a:r>
          </a:p>
        </p:txBody>
      </p:sp>
      <p:sp>
        <p:nvSpPr>
          <p:cNvPr id="143" name="Google Shape;14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Screenshots are from the working n8n prototype running on synthetic data. Walk left to right: workflow, report, dispatch, ledger.</a:t>
            </a:r>
          </a:p>
        </p:txBody>
      </p:sp>
      <p:sp>
        <p:nvSpPr>
          <p:cNvPr id="150" name="Google Shape;15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Be upfront: targets are design goals and data is synthetic. Emphasise the ethics slide: fairness is visible and adjustable.</a:t>
            </a:r>
          </a:p>
        </p:txBody>
      </p:sp>
      <p:sp>
        <p:nvSpPr>
          <p:cNvPr id="157" name="Google Shape;15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7"/>
          <p:cNvSpPr/>
          <p:nvPr>
            <p:ph idx="2" type="pic"/>
          </p:nvPr>
        </p:nvSpPr>
        <p:spPr>
          <a:xfrm>
            <a:off x="1792288" y="612775"/>
            <a:ext cx="5486400" cy="4114800"/>
          </a:xfrm>
          <a:prstGeom prst="rect">
            <a:avLst/>
          </a:prstGeom>
          <a:noFill/>
          <a:ln>
            <a:noFill/>
          </a:ln>
        </p:spPr>
      </p:sp>
      <p:sp>
        <p:nvSpPr>
          <p:cNvPr id="64" name="Google Shape;64;p1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12.png"/><Relationship Id="rId5" Type="http://schemas.openxmlformats.org/officeDocument/2006/relationships/image" Target="../media/image5.png"/><Relationship Id="rId6" Type="http://schemas.openxmlformats.org/officeDocument/2006/relationships/image" Target="../media/image11.png"/><Relationship Id="rId7" Type="http://schemas.openxmlformats.org/officeDocument/2006/relationships/image" Target="../media/image4.png"/><Relationship Id="rId8" Type="http://schemas.openxmlformats.org/officeDocument/2006/relationships/image" Target="../media/image14.png"/><Relationship Id="rId9" Type="http://schemas.openxmlformats.org/officeDocument/2006/relationships/image" Target="../media/image2.png"/><Relationship Id="rId10" Type="http://schemas.openxmlformats.org/officeDocument/2006/relationships/image" Target="../media/image6.png"/><Relationship Id="rId11" Type="http://schemas.openxmlformats.org/officeDocument/2006/relationships/image" Target="../media/image3.png"/><Relationship Id="rId12" Type="http://schemas.openxmlformats.org/officeDocument/2006/relationships/image" Target="../media/image13.png"/><Relationship Id="rId13" Type="http://schemas.openxmlformats.org/officeDocument/2006/relationships/image" Target="../media/image8.png"/><Relationship Id="rId14" Type="http://schemas.openxmlformats.org/officeDocument/2006/relationships/image" Target="../media/image7.png"/><Relationship Id="rId15" Type="http://schemas.openxmlformats.org/officeDocument/2006/relationships/image" Target="../media/image16.png"/><Relationship Id="rId16" Type="http://schemas.openxmlformats.org/officeDocument/2006/relationships/image" Target="../media/image10.png"/><Relationship Id="rId17" Type="http://schemas.openxmlformats.org/officeDocument/2006/relationships/image" Target="../media/image9.png"/><Relationship Id="rId18"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12.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12.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12.png"/><Relationship Id="rId5" Type="http://schemas.openxmlformats.org/officeDocument/2006/relationships/hyperlink" Target="https://github.com/bhavanabs2006bs/luxe-logic-fairness-engin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427" l="-7180" r="-3000" t="-19076"/>
            </a:stretch>
          </a:blipFill>
          <a:ln>
            <a:noFill/>
          </a:ln>
        </p:spPr>
      </p:sp>
      <p:sp>
        <p:nvSpPr>
          <p:cNvPr id="85" name="Google Shape;85;p1"/>
          <p:cNvSpPr/>
          <p:nvPr/>
        </p:nvSpPr>
        <p:spPr>
          <a:xfrm>
            <a:off x="5317038" y="-4518398"/>
            <a:ext cx="22188662" cy="18920878"/>
          </a:xfrm>
          <a:custGeom>
            <a:rect b="b" l="l" r="r" t="t"/>
            <a:pathLst>
              <a:path extrusionOk="0" h="18920878" w="22188662">
                <a:moveTo>
                  <a:pt x="0" y="0"/>
                </a:moveTo>
                <a:lnTo>
                  <a:pt x="22188663" y="0"/>
                </a:lnTo>
                <a:lnTo>
                  <a:pt x="22188663" y="18920878"/>
                </a:lnTo>
                <a:lnTo>
                  <a:pt x="0" y="18920878"/>
                </a:lnTo>
                <a:lnTo>
                  <a:pt x="0" y="0"/>
                </a:lnTo>
                <a:close/>
              </a:path>
            </a:pathLst>
          </a:custGeom>
          <a:blipFill rotWithShape="1">
            <a:blip r:embed="rId4">
              <a:alphaModFix/>
            </a:blip>
            <a:stretch>
              <a:fillRect b="0" l="0" r="0" t="0"/>
            </a:stretch>
          </a:blipFill>
          <a:ln>
            <a:noFill/>
          </a:ln>
        </p:spPr>
      </p:sp>
      <p:sp>
        <p:nvSpPr>
          <p:cNvPr id="86" name="Google Shape;86;p1"/>
          <p:cNvSpPr/>
          <p:nvPr/>
        </p:nvSpPr>
        <p:spPr>
          <a:xfrm>
            <a:off x="1274325" y="307375"/>
            <a:ext cx="14692810" cy="1101598"/>
          </a:xfrm>
          <a:custGeom>
            <a:rect b="b" l="l" r="r" t="t"/>
            <a:pathLst>
              <a:path extrusionOk="0" h="1101598" w="14127702">
                <a:moveTo>
                  <a:pt x="0" y="0"/>
                </a:moveTo>
                <a:lnTo>
                  <a:pt x="14127702" y="0"/>
                </a:lnTo>
                <a:lnTo>
                  <a:pt x="14127702" y="1101598"/>
                </a:lnTo>
                <a:lnTo>
                  <a:pt x="0" y="1101598"/>
                </a:lnTo>
                <a:lnTo>
                  <a:pt x="0" y="0"/>
                </a:lnTo>
                <a:close/>
              </a:path>
            </a:pathLst>
          </a:custGeom>
          <a:blipFill rotWithShape="1">
            <a:blip r:embed="rId5">
              <a:alphaModFix/>
            </a:blip>
            <a:stretch>
              <a:fillRect b="-10072" l="-953" r="-12923" t="-10072"/>
            </a:stretch>
          </a:blipFill>
          <a:ln>
            <a:noFill/>
          </a:ln>
        </p:spPr>
      </p:sp>
      <p:sp>
        <p:nvSpPr>
          <p:cNvPr id="87" name="Google Shape;87;p1"/>
          <p:cNvSpPr/>
          <p:nvPr/>
        </p:nvSpPr>
        <p:spPr>
          <a:xfrm>
            <a:off x="1591320" y="362859"/>
            <a:ext cx="610238" cy="832142"/>
          </a:xfrm>
          <a:custGeom>
            <a:rect b="b" l="l" r="r" t="t"/>
            <a:pathLst>
              <a:path extrusionOk="0" h="832142" w="610238">
                <a:moveTo>
                  <a:pt x="0" y="0"/>
                </a:moveTo>
                <a:lnTo>
                  <a:pt x="610237" y="0"/>
                </a:lnTo>
                <a:lnTo>
                  <a:pt x="610237" y="832142"/>
                </a:lnTo>
                <a:lnTo>
                  <a:pt x="0" y="832142"/>
                </a:lnTo>
                <a:lnTo>
                  <a:pt x="0" y="0"/>
                </a:lnTo>
                <a:close/>
              </a:path>
            </a:pathLst>
          </a:custGeom>
          <a:blipFill rotWithShape="1">
            <a:blip r:embed="rId6">
              <a:alphaModFix/>
            </a:blip>
            <a:stretch>
              <a:fillRect b="0" l="0" r="0" t="0"/>
            </a:stretch>
          </a:blipFill>
          <a:ln>
            <a:noFill/>
          </a:ln>
        </p:spPr>
      </p:sp>
      <p:sp>
        <p:nvSpPr>
          <p:cNvPr id="88" name="Google Shape;88;p1"/>
          <p:cNvSpPr/>
          <p:nvPr/>
        </p:nvSpPr>
        <p:spPr>
          <a:xfrm>
            <a:off x="4415789" y="372692"/>
            <a:ext cx="901250" cy="901250"/>
          </a:xfrm>
          <a:custGeom>
            <a:rect b="b" l="l" r="r" t="t"/>
            <a:pathLst>
              <a:path extrusionOk="0" h="901250" w="901250">
                <a:moveTo>
                  <a:pt x="0" y="0"/>
                </a:moveTo>
                <a:lnTo>
                  <a:pt x="901249" y="0"/>
                </a:lnTo>
                <a:lnTo>
                  <a:pt x="901249" y="901249"/>
                </a:lnTo>
                <a:lnTo>
                  <a:pt x="0" y="901249"/>
                </a:lnTo>
                <a:lnTo>
                  <a:pt x="0" y="0"/>
                </a:lnTo>
                <a:close/>
              </a:path>
            </a:pathLst>
          </a:custGeom>
          <a:blipFill rotWithShape="1">
            <a:blip r:embed="rId7">
              <a:alphaModFix/>
            </a:blip>
            <a:stretch>
              <a:fillRect b="0" l="0" r="0" t="0"/>
            </a:stretch>
          </a:blipFill>
          <a:ln>
            <a:noFill/>
          </a:ln>
        </p:spPr>
      </p:sp>
      <p:sp>
        <p:nvSpPr>
          <p:cNvPr id="89" name="Google Shape;89;p1"/>
          <p:cNvSpPr/>
          <p:nvPr/>
        </p:nvSpPr>
        <p:spPr>
          <a:xfrm>
            <a:off x="13628758" y="488306"/>
            <a:ext cx="1172861" cy="616220"/>
          </a:xfrm>
          <a:custGeom>
            <a:rect b="b" l="l" r="r" t="t"/>
            <a:pathLst>
              <a:path extrusionOk="0" h="616220" w="1172861">
                <a:moveTo>
                  <a:pt x="0" y="0"/>
                </a:moveTo>
                <a:lnTo>
                  <a:pt x="1172860" y="0"/>
                </a:lnTo>
                <a:lnTo>
                  <a:pt x="1172860" y="616220"/>
                </a:lnTo>
                <a:lnTo>
                  <a:pt x="0" y="616220"/>
                </a:lnTo>
                <a:lnTo>
                  <a:pt x="0" y="0"/>
                </a:lnTo>
                <a:close/>
              </a:path>
            </a:pathLst>
          </a:custGeom>
          <a:blipFill rotWithShape="1">
            <a:blip r:embed="rId8">
              <a:alphaModFix/>
            </a:blip>
            <a:stretch>
              <a:fillRect b="0" l="0" r="0" t="0"/>
            </a:stretch>
          </a:blipFill>
          <a:ln>
            <a:noFill/>
          </a:ln>
        </p:spPr>
      </p:sp>
      <p:sp>
        <p:nvSpPr>
          <p:cNvPr id="90" name="Google Shape;90;p1"/>
          <p:cNvSpPr/>
          <p:nvPr/>
        </p:nvSpPr>
        <p:spPr>
          <a:xfrm>
            <a:off x="5926638" y="538306"/>
            <a:ext cx="1721890" cy="626142"/>
          </a:xfrm>
          <a:custGeom>
            <a:rect b="b" l="l" r="r" t="t"/>
            <a:pathLst>
              <a:path extrusionOk="0" h="626142" w="1721890">
                <a:moveTo>
                  <a:pt x="0" y="0"/>
                </a:moveTo>
                <a:lnTo>
                  <a:pt x="1721890" y="0"/>
                </a:lnTo>
                <a:lnTo>
                  <a:pt x="1721890" y="626142"/>
                </a:lnTo>
                <a:lnTo>
                  <a:pt x="0" y="626142"/>
                </a:lnTo>
                <a:lnTo>
                  <a:pt x="0" y="0"/>
                </a:lnTo>
                <a:close/>
              </a:path>
            </a:pathLst>
          </a:custGeom>
          <a:blipFill rotWithShape="1">
            <a:blip r:embed="rId9">
              <a:alphaModFix/>
            </a:blip>
            <a:stretch>
              <a:fillRect b="-156816" l="-72694" r="-73660" t="-170790"/>
            </a:stretch>
          </a:blipFill>
          <a:ln>
            <a:noFill/>
          </a:ln>
        </p:spPr>
      </p:sp>
      <p:sp>
        <p:nvSpPr>
          <p:cNvPr id="91" name="Google Shape;91;p1"/>
          <p:cNvSpPr/>
          <p:nvPr/>
        </p:nvSpPr>
        <p:spPr>
          <a:xfrm>
            <a:off x="8258128" y="488306"/>
            <a:ext cx="1474047" cy="670021"/>
          </a:xfrm>
          <a:custGeom>
            <a:rect b="b" l="l" r="r" t="t"/>
            <a:pathLst>
              <a:path extrusionOk="0" h="670021" w="1474047">
                <a:moveTo>
                  <a:pt x="0" y="0"/>
                </a:moveTo>
                <a:lnTo>
                  <a:pt x="1474047" y="0"/>
                </a:lnTo>
                <a:lnTo>
                  <a:pt x="1474047" y="670021"/>
                </a:lnTo>
                <a:lnTo>
                  <a:pt x="0" y="670021"/>
                </a:lnTo>
                <a:lnTo>
                  <a:pt x="0" y="0"/>
                </a:lnTo>
                <a:close/>
              </a:path>
            </a:pathLst>
          </a:custGeom>
          <a:blipFill rotWithShape="1">
            <a:blip r:embed="rId10">
              <a:alphaModFix/>
            </a:blip>
            <a:stretch>
              <a:fillRect b="-91756" l="-16057" r="-11397" t="-88646"/>
            </a:stretch>
          </a:blipFill>
          <a:ln>
            <a:noFill/>
          </a:ln>
        </p:spPr>
      </p:sp>
      <p:sp>
        <p:nvSpPr>
          <p:cNvPr id="92" name="Google Shape;92;p1"/>
          <p:cNvSpPr/>
          <p:nvPr/>
        </p:nvSpPr>
        <p:spPr>
          <a:xfrm>
            <a:off x="10341775" y="488306"/>
            <a:ext cx="2677383" cy="585678"/>
          </a:xfrm>
          <a:custGeom>
            <a:rect b="b" l="l" r="r" t="t"/>
            <a:pathLst>
              <a:path extrusionOk="0" h="585678" w="2677383">
                <a:moveTo>
                  <a:pt x="0" y="0"/>
                </a:moveTo>
                <a:lnTo>
                  <a:pt x="2677383" y="0"/>
                </a:lnTo>
                <a:lnTo>
                  <a:pt x="2677383" y="585677"/>
                </a:lnTo>
                <a:lnTo>
                  <a:pt x="0" y="585677"/>
                </a:lnTo>
                <a:lnTo>
                  <a:pt x="0" y="0"/>
                </a:lnTo>
                <a:close/>
              </a:path>
            </a:pathLst>
          </a:custGeom>
          <a:blipFill rotWithShape="1">
            <a:blip r:embed="rId11">
              <a:alphaModFix/>
            </a:blip>
            <a:stretch>
              <a:fillRect b="0" l="0" r="0" t="0"/>
            </a:stretch>
          </a:blipFill>
          <a:ln>
            <a:noFill/>
          </a:ln>
        </p:spPr>
      </p:sp>
      <p:sp>
        <p:nvSpPr>
          <p:cNvPr id="93" name="Google Shape;93;p1"/>
          <p:cNvSpPr txBox="1"/>
          <p:nvPr/>
        </p:nvSpPr>
        <p:spPr>
          <a:xfrm>
            <a:off x="2149315" y="481156"/>
            <a:ext cx="1655535" cy="461333"/>
          </a:xfrm>
          <a:prstGeom prst="rect">
            <a:avLst/>
          </a:prstGeom>
          <a:noFill/>
          <a:ln>
            <a:noFill/>
          </a:ln>
        </p:spPr>
        <p:txBody>
          <a:bodyPr anchorCtr="0" anchor="t" bIns="0" lIns="0" spcFirstLastPara="1" rIns="0" wrap="square" tIns="0">
            <a:spAutoFit/>
          </a:bodyPr>
          <a:lstStyle/>
          <a:p>
            <a:pPr indent="0" lvl="0" marL="0" marR="0" rtl="0" algn="l">
              <a:lnSpc>
                <a:spcPct val="119984"/>
              </a:lnSpc>
              <a:spcBef>
                <a:spcPts val="0"/>
              </a:spcBef>
              <a:spcAft>
                <a:spcPts val="0"/>
              </a:spcAft>
              <a:buNone/>
            </a:pPr>
            <a:r>
              <a:rPr b="0" i="0" lang="en-US" sz="2652" u="none" cap="none" strike="noStrike">
                <a:solidFill>
                  <a:srgbClr val="000000"/>
                </a:solidFill>
                <a:latin typeface="Times"/>
                <a:ea typeface="Times"/>
                <a:cs typeface="Times"/>
                <a:sym typeface="Times"/>
              </a:rPr>
              <a:t>MANIPAL</a:t>
            </a:r>
            <a:endParaRPr/>
          </a:p>
        </p:txBody>
      </p:sp>
      <p:sp>
        <p:nvSpPr>
          <p:cNvPr id="94" name="Google Shape;94;p1"/>
          <p:cNvSpPr txBox="1"/>
          <p:nvPr/>
        </p:nvSpPr>
        <p:spPr>
          <a:xfrm>
            <a:off x="2149315" y="833903"/>
            <a:ext cx="1655535" cy="302485"/>
          </a:xfrm>
          <a:prstGeom prst="rect">
            <a:avLst/>
          </a:prstGeom>
          <a:noFill/>
          <a:ln>
            <a:noFill/>
          </a:ln>
        </p:spPr>
        <p:txBody>
          <a:bodyPr anchorCtr="0" anchor="t" bIns="0" lIns="0" spcFirstLastPara="1" rIns="0" wrap="square" tIns="0">
            <a:spAutoFit/>
          </a:bodyPr>
          <a:lstStyle/>
          <a:p>
            <a:pPr indent="0" lvl="1" marL="0" marR="0" rtl="0" algn="l">
              <a:lnSpc>
                <a:spcPct val="140097"/>
              </a:lnSpc>
              <a:spcBef>
                <a:spcPts val="0"/>
              </a:spcBef>
              <a:spcAft>
                <a:spcPts val="0"/>
              </a:spcAft>
              <a:buNone/>
            </a:pPr>
            <a:r>
              <a:rPr b="0" i="0" lang="en-US" sz="823" u="none" cap="none" strike="noStrike">
                <a:solidFill>
                  <a:srgbClr val="000000"/>
                </a:solidFill>
                <a:latin typeface="Times"/>
                <a:ea typeface="Times"/>
                <a:cs typeface="Times"/>
                <a:sym typeface="Times"/>
              </a:rPr>
              <a:t>ACADEMY OF HIGHER EDUCATION</a:t>
            </a:r>
            <a:endParaRPr/>
          </a:p>
        </p:txBody>
      </p:sp>
      <p:sp>
        <p:nvSpPr>
          <p:cNvPr id="95" name="Google Shape;95;p1"/>
          <p:cNvSpPr txBox="1"/>
          <p:nvPr/>
        </p:nvSpPr>
        <p:spPr>
          <a:xfrm>
            <a:off x="2149315" y="1098287"/>
            <a:ext cx="1655535" cy="132626"/>
          </a:xfrm>
          <a:prstGeom prst="rect">
            <a:avLst/>
          </a:prstGeom>
          <a:noFill/>
          <a:ln>
            <a:noFill/>
          </a:ln>
        </p:spPr>
        <p:txBody>
          <a:bodyPr anchorCtr="0" anchor="t" bIns="0" lIns="0" spcFirstLastPara="1" rIns="0" wrap="square" tIns="0">
            <a:spAutoFit/>
          </a:bodyPr>
          <a:lstStyle/>
          <a:p>
            <a:pPr indent="0" lvl="1" marL="0" marR="0" rtl="0" algn="l">
              <a:lnSpc>
                <a:spcPct val="140092"/>
              </a:lnSpc>
              <a:spcBef>
                <a:spcPts val="0"/>
              </a:spcBef>
              <a:spcAft>
                <a:spcPts val="0"/>
              </a:spcAft>
              <a:buNone/>
            </a:pPr>
            <a:r>
              <a:rPr b="0" i="1" lang="en-US" sz="646" u="none" cap="none" strike="noStrike">
                <a:solidFill>
                  <a:srgbClr val="000000"/>
                </a:solidFill>
                <a:latin typeface="Times"/>
                <a:ea typeface="Times"/>
                <a:cs typeface="Times"/>
                <a:sym typeface="Times"/>
              </a:rPr>
              <a:t>Institution of Embrace Diamant in the University</a:t>
            </a:r>
            <a:endParaRPr/>
          </a:p>
        </p:txBody>
      </p:sp>
      <p:sp>
        <p:nvSpPr>
          <p:cNvPr id="96" name="Google Shape;96;p1"/>
          <p:cNvSpPr/>
          <p:nvPr/>
        </p:nvSpPr>
        <p:spPr>
          <a:xfrm>
            <a:off x="12144375" y="3869391"/>
            <a:ext cx="6143625" cy="6417609"/>
          </a:xfrm>
          <a:custGeom>
            <a:rect b="b" l="l" r="r" t="t"/>
            <a:pathLst>
              <a:path extrusionOk="0" h="6417609" w="6143625">
                <a:moveTo>
                  <a:pt x="0" y="0"/>
                </a:moveTo>
                <a:lnTo>
                  <a:pt x="6143625" y="0"/>
                </a:lnTo>
                <a:lnTo>
                  <a:pt x="6143625" y="6417609"/>
                </a:lnTo>
                <a:lnTo>
                  <a:pt x="0" y="6417609"/>
                </a:lnTo>
                <a:lnTo>
                  <a:pt x="0" y="0"/>
                </a:lnTo>
                <a:close/>
              </a:path>
            </a:pathLst>
          </a:custGeom>
          <a:blipFill rotWithShape="1">
            <a:blip r:embed="rId12">
              <a:alphaModFix/>
            </a:blip>
            <a:stretch>
              <a:fillRect b="-4932" l="0" r="0" t="0"/>
            </a:stretch>
          </a:blipFill>
          <a:ln>
            <a:noFill/>
          </a:ln>
        </p:spPr>
      </p:sp>
      <p:grpSp>
        <p:nvGrpSpPr>
          <p:cNvPr id="97" name="Google Shape;97;p1"/>
          <p:cNvGrpSpPr/>
          <p:nvPr/>
        </p:nvGrpSpPr>
        <p:grpSpPr>
          <a:xfrm>
            <a:off x="1028700" y="1593199"/>
            <a:ext cx="10533832" cy="4930312"/>
            <a:chOff x="0" y="-314325"/>
            <a:chExt cx="12613857" cy="6573749"/>
          </a:xfrm>
        </p:grpSpPr>
        <p:sp>
          <p:nvSpPr>
            <p:cNvPr id="98" name="Google Shape;98;p1"/>
            <p:cNvSpPr txBox="1"/>
            <p:nvPr/>
          </p:nvSpPr>
          <p:spPr>
            <a:xfrm>
              <a:off x="382399" y="-314325"/>
              <a:ext cx="11904300" cy="33798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16468" u="none" cap="none" strike="noStrike">
                  <a:solidFill>
                    <a:srgbClr val="5DE0E6"/>
                  </a:solidFill>
                  <a:latin typeface="Times"/>
                  <a:ea typeface="Times"/>
                  <a:cs typeface="Times"/>
                  <a:sym typeface="Times"/>
                </a:rPr>
                <a:t>HackSprint</a:t>
              </a:r>
              <a:endParaRPr/>
            </a:p>
          </p:txBody>
        </p:sp>
        <p:sp>
          <p:nvSpPr>
            <p:cNvPr id="99" name="Google Shape;99;p1"/>
            <p:cNvSpPr/>
            <p:nvPr/>
          </p:nvSpPr>
          <p:spPr>
            <a:xfrm>
              <a:off x="2124439" y="2762951"/>
              <a:ext cx="8394485" cy="1047467"/>
            </a:xfrm>
            <a:custGeom>
              <a:rect b="b" l="l" r="r" t="t"/>
              <a:pathLst>
                <a:path extrusionOk="0" h="1047467" w="8394485">
                  <a:moveTo>
                    <a:pt x="0" y="0"/>
                  </a:moveTo>
                  <a:lnTo>
                    <a:pt x="8394485" y="0"/>
                  </a:lnTo>
                  <a:lnTo>
                    <a:pt x="8394485" y="1047467"/>
                  </a:lnTo>
                  <a:lnTo>
                    <a:pt x="0" y="1047467"/>
                  </a:lnTo>
                  <a:lnTo>
                    <a:pt x="0" y="0"/>
                  </a:lnTo>
                  <a:close/>
                </a:path>
              </a:pathLst>
            </a:custGeom>
            <a:blipFill rotWithShape="1">
              <a:blip r:embed="rId13">
                <a:alphaModFix/>
              </a:blip>
              <a:stretch>
                <a:fillRect b="0" l="-1933" r="-1581" t="-18310"/>
              </a:stretch>
            </a:blipFill>
            <a:ln>
              <a:noFill/>
            </a:ln>
          </p:spPr>
        </p:sp>
        <p:sp>
          <p:nvSpPr>
            <p:cNvPr id="100" name="Google Shape;100;p1"/>
            <p:cNvSpPr/>
            <p:nvPr/>
          </p:nvSpPr>
          <p:spPr>
            <a:xfrm>
              <a:off x="0" y="3795665"/>
              <a:ext cx="12613857" cy="2463759"/>
            </a:xfrm>
            <a:custGeom>
              <a:rect b="b" l="l" r="r" t="t"/>
              <a:pathLst>
                <a:path extrusionOk="0" h="2463759" w="12613857">
                  <a:moveTo>
                    <a:pt x="0" y="0"/>
                  </a:moveTo>
                  <a:lnTo>
                    <a:pt x="12613857" y="0"/>
                  </a:lnTo>
                  <a:lnTo>
                    <a:pt x="12613857" y="2463759"/>
                  </a:lnTo>
                  <a:lnTo>
                    <a:pt x="0" y="2463759"/>
                  </a:lnTo>
                  <a:lnTo>
                    <a:pt x="0" y="0"/>
                  </a:lnTo>
                  <a:close/>
                </a:path>
              </a:pathLst>
            </a:custGeom>
            <a:blipFill rotWithShape="1">
              <a:blip r:embed="rId14">
                <a:alphaModFix/>
              </a:blip>
              <a:stretch>
                <a:fillRect b="0" l="0" r="0" t="0"/>
              </a:stretch>
            </a:blipFill>
            <a:ln>
              <a:noFill/>
            </a:ln>
          </p:spPr>
        </p:sp>
        <p:sp>
          <p:nvSpPr>
            <p:cNvPr id="101" name="Google Shape;101;p1"/>
            <p:cNvSpPr/>
            <p:nvPr/>
          </p:nvSpPr>
          <p:spPr>
            <a:xfrm>
              <a:off x="3083387" y="4400540"/>
              <a:ext cx="575369" cy="1239256"/>
            </a:xfrm>
            <a:custGeom>
              <a:rect b="b" l="l" r="r" t="t"/>
              <a:pathLst>
                <a:path extrusionOk="0" h="1239256" w="575369">
                  <a:moveTo>
                    <a:pt x="0" y="0"/>
                  </a:moveTo>
                  <a:lnTo>
                    <a:pt x="575369" y="0"/>
                  </a:lnTo>
                  <a:lnTo>
                    <a:pt x="575369" y="1239256"/>
                  </a:lnTo>
                  <a:lnTo>
                    <a:pt x="0" y="1239256"/>
                  </a:lnTo>
                  <a:lnTo>
                    <a:pt x="0" y="0"/>
                  </a:lnTo>
                  <a:close/>
                </a:path>
              </a:pathLst>
            </a:custGeom>
            <a:blipFill rotWithShape="1">
              <a:blip r:embed="rId15">
                <a:alphaModFix/>
              </a:blip>
              <a:stretch>
                <a:fillRect b="0" l="0" r="0" t="0"/>
              </a:stretch>
            </a:blipFill>
            <a:ln>
              <a:noFill/>
            </a:ln>
          </p:spPr>
        </p:sp>
        <p:sp>
          <p:nvSpPr>
            <p:cNvPr id="102" name="Google Shape;102;p1"/>
            <p:cNvSpPr/>
            <p:nvPr/>
          </p:nvSpPr>
          <p:spPr>
            <a:xfrm>
              <a:off x="8689546" y="4400540"/>
              <a:ext cx="73765" cy="1239256"/>
            </a:xfrm>
            <a:custGeom>
              <a:rect b="b" l="l" r="r" t="t"/>
              <a:pathLst>
                <a:path extrusionOk="0" h="1239256" w="73765">
                  <a:moveTo>
                    <a:pt x="0" y="0"/>
                  </a:moveTo>
                  <a:lnTo>
                    <a:pt x="73765" y="0"/>
                  </a:lnTo>
                  <a:lnTo>
                    <a:pt x="73765" y="1239256"/>
                  </a:lnTo>
                  <a:lnTo>
                    <a:pt x="0" y="1239256"/>
                  </a:lnTo>
                  <a:lnTo>
                    <a:pt x="0" y="0"/>
                  </a:lnTo>
                  <a:close/>
                </a:path>
              </a:pathLst>
            </a:custGeom>
            <a:blipFill rotWithShape="1">
              <a:blip r:embed="rId16">
                <a:alphaModFix/>
              </a:blip>
              <a:stretch>
                <a:fillRect b="0" l="-20000" r="-280000" t="0"/>
              </a:stretch>
            </a:blipFill>
            <a:ln>
              <a:noFill/>
            </a:ln>
          </p:spPr>
        </p:sp>
        <p:sp>
          <p:nvSpPr>
            <p:cNvPr id="103" name="Google Shape;103;p1"/>
            <p:cNvSpPr txBox="1"/>
            <p:nvPr/>
          </p:nvSpPr>
          <p:spPr>
            <a:xfrm>
              <a:off x="2436968" y="2920863"/>
              <a:ext cx="7221300" cy="7428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3620" u="none" cap="none" strike="noStrike">
                  <a:solidFill>
                    <a:srgbClr val="004944"/>
                  </a:solidFill>
                  <a:latin typeface="Arial"/>
                  <a:ea typeface="Arial"/>
                  <a:cs typeface="Arial"/>
                  <a:sym typeface="Arial"/>
                </a:rPr>
                <a:t>24-Hour Hackathon</a:t>
              </a:r>
              <a:endParaRPr/>
            </a:p>
          </p:txBody>
        </p:sp>
        <p:sp>
          <p:nvSpPr>
            <p:cNvPr id="104" name="Google Shape;104;p1"/>
            <p:cNvSpPr txBox="1"/>
            <p:nvPr/>
          </p:nvSpPr>
          <p:spPr>
            <a:xfrm>
              <a:off x="865835" y="4393321"/>
              <a:ext cx="2417100" cy="10134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i="0" lang="en-US" sz="4938" u="none" cap="none" strike="noStrike">
                  <a:solidFill>
                    <a:srgbClr val="5DE0E6"/>
                  </a:solidFill>
                  <a:latin typeface="Arial"/>
                  <a:ea typeface="Arial"/>
                  <a:cs typeface="Arial"/>
                  <a:sym typeface="Arial"/>
                </a:rPr>
                <a:t>17-18</a:t>
              </a:r>
              <a:endParaRPr/>
            </a:p>
          </p:txBody>
        </p:sp>
        <p:sp>
          <p:nvSpPr>
            <p:cNvPr id="105" name="Google Shape;105;p1"/>
            <p:cNvSpPr txBox="1"/>
            <p:nvPr/>
          </p:nvSpPr>
          <p:spPr>
            <a:xfrm>
              <a:off x="4400894" y="4940029"/>
              <a:ext cx="3474600" cy="742200"/>
            </a:xfrm>
            <a:prstGeom prst="rect">
              <a:avLst/>
            </a:prstGeom>
            <a:noFill/>
            <a:ln>
              <a:noFill/>
            </a:ln>
          </p:spPr>
          <p:txBody>
            <a:bodyPr anchorCtr="0" anchor="t" bIns="0" lIns="0" spcFirstLastPara="1" rIns="0" wrap="square" tIns="0">
              <a:spAutoFit/>
            </a:bodyPr>
            <a:lstStyle/>
            <a:p>
              <a:pPr indent="0" lvl="0" marL="0" marR="0" rtl="0" algn="ctr">
                <a:lnSpc>
                  <a:spcPct val="119951"/>
                </a:lnSpc>
                <a:spcBef>
                  <a:spcPts val="0"/>
                </a:spcBef>
                <a:spcAft>
                  <a:spcPts val="0"/>
                </a:spcAft>
                <a:buNone/>
              </a:pPr>
              <a:r>
                <a:rPr b="1" i="0" lang="en-US" sz="1644" u="none" cap="none" strike="noStrike">
                  <a:solidFill>
                    <a:srgbClr val="004944"/>
                  </a:solidFill>
                  <a:latin typeface="Arial"/>
                  <a:ea typeface="Arial"/>
                  <a:cs typeface="Arial"/>
                  <a:sym typeface="Arial"/>
                </a:rPr>
                <a:t>Manipal Academy of Higher Education (MAHE)</a:t>
              </a:r>
              <a:endParaRPr/>
            </a:p>
          </p:txBody>
        </p:sp>
        <p:sp>
          <p:nvSpPr>
            <p:cNvPr id="106" name="Google Shape;106;p1"/>
            <p:cNvSpPr txBox="1"/>
            <p:nvPr/>
          </p:nvSpPr>
          <p:spPr>
            <a:xfrm>
              <a:off x="1047112" y="5438889"/>
              <a:ext cx="1389900" cy="328800"/>
            </a:xfrm>
            <a:prstGeom prst="rect">
              <a:avLst/>
            </a:prstGeom>
            <a:noFill/>
            <a:ln>
              <a:noFill/>
            </a:ln>
          </p:spPr>
          <p:txBody>
            <a:bodyPr anchorCtr="0" anchor="t" bIns="0" lIns="0" spcFirstLastPara="1" rIns="0" wrap="square" tIns="0">
              <a:spAutoFit/>
            </a:bodyPr>
            <a:lstStyle/>
            <a:p>
              <a:pPr indent="0" lvl="0" marL="0" marR="0" rtl="0" algn="ctr">
                <a:lnSpc>
                  <a:spcPct val="120037"/>
                </a:lnSpc>
                <a:spcBef>
                  <a:spcPts val="0"/>
                </a:spcBef>
                <a:spcAft>
                  <a:spcPts val="0"/>
                </a:spcAft>
                <a:buNone/>
              </a:pPr>
              <a:r>
                <a:rPr b="1" i="0" lang="en-US" sz="1602" u="none" cap="none" strike="noStrike">
                  <a:solidFill>
                    <a:srgbClr val="004944"/>
                  </a:solidFill>
                  <a:latin typeface="Arial"/>
                  <a:ea typeface="Arial"/>
                  <a:cs typeface="Arial"/>
                  <a:sym typeface="Arial"/>
                </a:rPr>
                <a:t>OCTOBER</a:t>
              </a:r>
              <a:endParaRPr/>
            </a:p>
          </p:txBody>
        </p:sp>
        <p:sp>
          <p:nvSpPr>
            <p:cNvPr id="107" name="Google Shape;107;p1"/>
            <p:cNvSpPr txBox="1"/>
            <p:nvPr/>
          </p:nvSpPr>
          <p:spPr>
            <a:xfrm>
              <a:off x="4974964" y="4461918"/>
              <a:ext cx="2296200" cy="345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685" u="none" cap="none" strike="noStrike">
                  <a:solidFill>
                    <a:srgbClr val="004944"/>
                  </a:solidFill>
                  <a:latin typeface="Arial"/>
                  <a:ea typeface="Arial"/>
                  <a:cs typeface="Arial"/>
                  <a:sym typeface="Arial"/>
                </a:rPr>
                <a:t>VENUE DETAILS</a:t>
              </a:r>
              <a:endParaRPr/>
            </a:p>
          </p:txBody>
        </p:sp>
        <p:sp>
          <p:nvSpPr>
            <p:cNvPr id="108" name="Google Shape;108;p1"/>
            <p:cNvSpPr txBox="1"/>
            <p:nvPr/>
          </p:nvSpPr>
          <p:spPr>
            <a:xfrm>
              <a:off x="10141600" y="4781941"/>
              <a:ext cx="1631700" cy="345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685" u="none" cap="none" strike="noStrike">
                  <a:solidFill>
                    <a:srgbClr val="004944"/>
                  </a:solidFill>
                  <a:latin typeface="Arial"/>
                  <a:ea typeface="Arial"/>
                  <a:cs typeface="Arial"/>
                  <a:sym typeface="Arial"/>
                </a:rPr>
                <a:t>SATURDAY</a:t>
              </a:r>
              <a:endParaRPr/>
            </a:p>
          </p:txBody>
        </p:sp>
        <p:sp>
          <p:nvSpPr>
            <p:cNvPr id="109" name="Google Shape;109;p1"/>
            <p:cNvSpPr txBox="1"/>
            <p:nvPr/>
          </p:nvSpPr>
          <p:spPr>
            <a:xfrm>
              <a:off x="9416458" y="5168176"/>
              <a:ext cx="2417100" cy="345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685" u="none" cap="none" strike="noStrike">
                  <a:solidFill>
                    <a:srgbClr val="004944"/>
                  </a:solidFill>
                  <a:latin typeface="Arial"/>
                  <a:ea typeface="Arial"/>
                  <a:cs typeface="Arial"/>
                  <a:sym typeface="Arial"/>
                </a:rPr>
                <a:t>09 A.M. Onwards</a:t>
              </a:r>
              <a:endParaRPr/>
            </a:p>
          </p:txBody>
        </p:sp>
      </p:grpSp>
      <p:grpSp>
        <p:nvGrpSpPr>
          <p:cNvPr id="110" name="Google Shape;110;p1"/>
          <p:cNvGrpSpPr/>
          <p:nvPr/>
        </p:nvGrpSpPr>
        <p:grpSpPr>
          <a:xfrm>
            <a:off x="1166813" y="8715375"/>
            <a:ext cx="14049375" cy="1085850"/>
            <a:chOff x="0" y="0"/>
            <a:chExt cx="18732500" cy="1447800"/>
          </a:xfrm>
        </p:grpSpPr>
        <p:sp>
          <p:nvSpPr>
            <p:cNvPr id="111" name="Google Shape;111;p1"/>
            <p:cNvSpPr/>
            <p:nvPr/>
          </p:nvSpPr>
          <p:spPr>
            <a:xfrm>
              <a:off x="0" y="0"/>
              <a:ext cx="18732500" cy="1447800"/>
            </a:xfrm>
            <a:custGeom>
              <a:rect b="b" l="l" r="r" t="t"/>
              <a:pathLst>
                <a:path extrusionOk="0" h="1447800" w="18732500">
                  <a:moveTo>
                    <a:pt x="0" y="0"/>
                  </a:moveTo>
                  <a:lnTo>
                    <a:pt x="18732500" y="0"/>
                  </a:lnTo>
                  <a:lnTo>
                    <a:pt x="18732500" y="1447800"/>
                  </a:lnTo>
                  <a:lnTo>
                    <a:pt x="0" y="1447800"/>
                  </a:lnTo>
                  <a:lnTo>
                    <a:pt x="0" y="0"/>
                  </a:lnTo>
                  <a:close/>
                </a:path>
              </a:pathLst>
            </a:custGeom>
            <a:blipFill rotWithShape="1">
              <a:blip r:embed="rId17">
                <a:alphaModFix/>
              </a:blip>
              <a:stretch>
                <a:fillRect b="-18422" l="-542" r="-1084" t="-9649"/>
              </a:stretch>
            </a:blipFill>
            <a:ln>
              <a:noFill/>
            </a:ln>
          </p:spPr>
        </p:sp>
        <p:sp>
          <p:nvSpPr>
            <p:cNvPr id="112" name="Google Shape;112;p1"/>
            <p:cNvSpPr/>
            <p:nvPr/>
          </p:nvSpPr>
          <p:spPr>
            <a:xfrm>
              <a:off x="10927848" y="480123"/>
              <a:ext cx="2629904" cy="575802"/>
            </a:xfrm>
            <a:custGeom>
              <a:rect b="b" l="l" r="r" t="t"/>
              <a:pathLst>
                <a:path extrusionOk="0" h="575802" w="2629904">
                  <a:moveTo>
                    <a:pt x="0" y="0"/>
                  </a:moveTo>
                  <a:lnTo>
                    <a:pt x="2629904" y="0"/>
                  </a:lnTo>
                  <a:lnTo>
                    <a:pt x="2629904" y="575802"/>
                  </a:lnTo>
                  <a:lnTo>
                    <a:pt x="0" y="575802"/>
                  </a:lnTo>
                  <a:lnTo>
                    <a:pt x="0" y="0"/>
                  </a:lnTo>
                  <a:close/>
                </a:path>
              </a:pathLst>
            </a:custGeom>
            <a:blipFill rotWithShape="1">
              <a:blip r:embed="rId18">
                <a:alphaModFix/>
              </a:blip>
              <a:stretch>
                <a:fillRect b="0" l="0" r="0" t="0"/>
              </a:stretch>
            </a:blipFill>
            <a:ln>
              <a:noFill/>
            </a:ln>
          </p:spPr>
        </p:sp>
        <p:sp>
          <p:nvSpPr>
            <p:cNvPr id="113" name="Google Shape;113;p1"/>
            <p:cNvSpPr txBox="1"/>
            <p:nvPr/>
          </p:nvSpPr>
          <p:spPr>
            <a:xfrm>
              <a:off x="1372006" y="226089"/>
              <a:ext cx="1664614" cy="829836"/>
            </a:xfrm>
            <a:prstGeom prst="rect">
              <a:avLst/>
            </a:prstGeom>
            <a:noFill/>
            <a:ln>
              <a:noFill/>
            </a:ln>
          </p:spPr>
          <p:txBody>
            <a:bodyPr anchorCtr="0" anchor="t" bIns="0" lIns="0" spcFirstLastPara="1" rIns="0" wrap="square" tIns="0">
              <a:spAutoFit/>
            </a:bodyPr>
            <a:lstStyle/>
            <a:p>
              <a:pPr indent="0" lvl="0" marL="0" marR="0" rtl="0" algn="ctr">
                <a:lnSpc>
                  <a:spcPct val="140054"/>
                </a:lnSpc>
                <a:spcBef>
                  <a:spcPts val="0"/>
                </a:spcBef>
                <a:spcAft>
                  <a:spcPts val="0"/>
                </a:spcAft>
                <a:buNone/>
              </a:pPr>
              <a:r>
                <a:rPr b="1" i="0" lang="en-US" sz="1840" u="none" cap="none" strike="noStrike">
                  <a:solidFill>
                    <a:srgbClr val="FFFFFF"/>
                  </a:solidFill>
                  <a:latin typeface="Arial"/>
                  <a:ea typeface="Arial"/>
                  <a:cs typeface="Arial"/>
                  <a:sym typeface="Arial"/>
                </a:rPr>
                <a:t>REGISTER NOW</a:t>
              </a:r>
              <a:endParaRPr/>
            </a:p>
          </p:txBody>
        </p:sp>
        <p:sp>
          <p:nvSpPr>
            <p:cNvPr id="114" name="Google Shape;114;p1"/>
            <p:cNvSpPr txBox="1"/>
            <p:nvPr/>
          </p:nvSpPr>
          <p:spPr>
            <a:xfrm>
              <a:off x="7172147" y="252779"/>
              <a:ext cx="1742643" cy="766881"/>
            </a:xfrm>
            <a:prstGeom prst="rect">
              <a:avLst/>
            </a:prstGeom>
            <a:noFill/>
            <a:ln>
              <a:noFill/>
            </a:ln>
          </p:spPr>
          <p:txBody>
            <a:bodyPr anchorCtr="0" anchor="t" bIns="0" lIns="0" spcFirstLastPara="1" rIns="0" wrap="square" tIns="0">
              <a:spAutoFit/>
            </a:bodyPr>
            <a:lstStyle/>
            <a:p>
              <a:pPr indent="0" lvl="0" marL="0" marR="0" rtl="0" algn="ctr">
                <a:lnSpc>
                  <a:spcPct val="160026"/>
                </a:lnSpc>
                <a:spcBef>
                  <a:spcPts val="0"/>
                </a:spcBef>
                <a:spcAft>
                  <a:spcPts val="0"/>
                </a:spcAft>
                <a:buNone/>
              </a:pPr>
              <a:r>
                <a:rPr b="1" i="0" lang="en-US" sz="1521" u="none" cap="none" strike="noStrike">
                  <a:solidFill>
                    <a:srgbClr val="FFFFFF"/>
                  </a:solidFill>
                  <a:latin typeface="Arial"/>
                  <a:ea typeface="Arial"/>
                  <a:cs typeface="Arial"/>
                  <a:sym typeface="Arial"/>
                </a:rPr>
                <a:t>Team Size</a:t>
              </a:r>
              <a:endParaRPr/>
            </a:p>
            <a:p>
              <a:pPr indent="0" lvl="0" marL="0" marR="0" rtl="0" algn="ctr">
                <a:lnSpc>
                  <a:spcPct val="160026"/>
                </a:lnSpc>
                <a:spcBef>
                  <a:spcPts val="0"/>
                </a:spcBef>
                <a:spcAft>
                  <a:spcPts val="0"/>
                </a:spcAft>
                <a:buNone/>
              </a:pPr>
              <a:r>
                <a:rPr b="1" i="0" lang="en-US" sz="1521" u="none" cap="none" strike="noStrike">
                  <a:solidFill>
                    <a:srgbClr val="FFFFFF"/>
                  </a:solidFill>
                  <a:latin typeface="Arial"/>
                  <a:ea typeface="Arial"/>
                  <a:cs typeface="Arial"/>
                  <a:sym typeface="Arial"/>
                </a:rPr>
                <a:t>1-4 Members</a:t>
              </a:r>
              <a:endParaRPr/>
            </a:p>
          </p:txBody>
        </p:sp>
        <p:sp>
          <p:nvSpPr>
            <p:cNvPr id="115" name="Google Shape;115;p1"/>
            <p:cNvSpPr txBox="1"/>
            <p:nvPr/>
          </p:nvSpPr>
          <p:spPr>
            <a:xfrm>
              <a:off x="12429346" y="130153"/>
              <a:ext cx="2139716" cy="292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450" u="none" cap="none" strike="noStrike">
                  <a:solidFill>
                    <a:srgbClr val="FFFFFF"/>
                  </a:solidFill>
                  <a:latin typeface="Playfair Display SemiBold"/>
                  <a:ea typeface="Playfair Display SemiBold"/>
                  <a:cs typeface="Playfair Display SemiBold"/>
                  <a:sym typeface="Playfair Display SemiBold"/>
                </a:rPr>
                <a:t>ORGANIZED BY:</a:t>
              </a:r>
              <a:endParaRPr/>
            </a:p>
          </p:txBody>
        </p:sp>
        <p:sp>
          <p:nvSpPr>
            <p:cNvPr id="116" name="Google Shape;116;p1"/>
            <p:cNvSpPr/>
            <p:nvPr/>
          </p:nvSpPr>
          <p:spPr>
            <a:xfrm>
              <a:off x="14501941" y="232228"/>
              <a:ext cx="721119" cy="983344"/>
            </a:xfrm>
            <a:custGeom>
              <a:rect b="b" l="l" r="r" t="t"/>
              <a:pathLst>
                <a:path extrusionOk="0" h="983344" w="721119">
                  <a:moveTo>
                    <a:pt x="0" y="0"/>
                  </a:moveTo>
                  <a:lnTo>
                    <a:pt x="721119" y="0"/>
                  </a:lnTo>
                  <a:lnTo>
                    <a:pt x="721119" y="983344"/>
                  </a:lnTo>
                  <a:lnTo>
                    <a:pt x="0" y="983344"/>
                  </a:lnTo>
                  <a:lnTo>
                    <a:pt x="0" y="0"/>
                  </a:lnTo>
                  <a:close/>
                </a:path>
              </a:pathLst>
            </a:custGeom>
            <a:blipFill rotWithShape="1">
              <a:blip r:embed="rId6">
                <a:alphaModFix/>
              </a:blip>
              <a:stretch>
                <a:fillRect b="0" l="0" r="0" t="0"/>
              </a:stretch>
            </a:blipFill>
            <a:ln>
              <a:noFill/>
            </a:ln>
          </p:spPr>
        </p:sp>
        <p:sp>
          <p:nvSpPr>
            <p:cNvPr id="117" name="Google Shape;117;p1"/>
            <p:cNvSpPr txBox="1"/>
            <p:nvPr/>
          </p:nvSpPr>
          <p:spPr>
            <a:xfrm>
              <a:off x="15125170" y="469001"/>
              <a:ext cx="1260579" cy="342900"/>
            </a:xfrm>
            <a:prstGeom prst="rect">
              <a:avLst/>
            </a:prstGeom>
            <a:noFill/>
            <a:ln>
              <a:noFill/>
            </a:ln>
          </p:spPr>
          <p:txBody>
            <a:bodyPr anchorCtr="0" anchor="t" bIns="0" lIns="0" spcFirstLastPara="1" rIns="0" wrap="square" tIns="0">
              <a:spAutoFit/>
            </a:bodyPr>
            <a:lstStyle/>
            <a:p>
              <a:pPr indent="0" lvl="0" marL="0" marR="0" rtl="0" algn="l">
                <a:lnSpc>
                  <a:spcPct val="120013"/>
                </a:lnSpc>
                <a:spcBef>
                  <a:spcPts val="0"/>
                </a:spcBef>
                <a:spcAft>
                  <a:spcPts val="0"/>
                </a:spcAft>
                <a:buNone/>
              </a:pPr>
              <a:r>
                <a:rPr b="0" i="0" lang="en-US" sz="1514" u="none" cap="none" strike="noStrike">
                  <a:solidFill>
                    <a:srgbClr val="FFFFFF"/>
                  </a:solidFill>
                  <a:latin typeface="Times"/>
                  <a:ea typeface="Times"/>
                  <a:cs typeface="Times"/>
                  <a:sym typeface="Times"/>
                </a:rPr>
                <a:t>MANIPAL</a:t>
              </a:r>
              <a:endParaRPr/>
            </a:p>
          </p:txBody>
        </p:sp>
        <p:sp>
          <p:nvSpPr>
            <p:cNvPr id="118" name="Google Shape;118;p1"/>
            <p:cNvSpPr txBox="1"/>
            <p:nvPr/>
          </p:nvSpPr>
          <p:spPr>
            <a:xfrm>
              <a:off x="15125170" y="762871"/>
              <a:ext cx="1956349" cy="333487"/>
            </a:xfrm>
            <a:prstGeom prst="rect">
              <a:avLst/>
            </a:prstGeom>
            <a:noFill/>
            <a:ln>
              <a:noFill/>
            </a:ln>
          </p:spPr>
          <p:txBody>
            <a:bodyPr anchorCtr="0" anchor="t" bIns="0" lIns="0" spcFirstLastPara="1" rIns="0" wrap="square" tIns="0">
              <a:spAutoFit/>
            </a:bodyPr>
            <a:lstStyle/>
            <a:p>
              <a:pPr indent="0" lvl="1" marL="0" marR="0" rtl="0" algn="l">
                <a:lnSpc>
                  <a:spcPct val="140054"/>
                </a:lnSpc>
                <a:spcBef>
                  <a:spcPts val="0"/>
                </a:spcBef>
                <a:spcAft>
                  <a:spcPts val="0"/>
                </a:spcAft>
                <a:buNone/>
              </a:pPr>
              <a:r>
                <a:rPr b="0" i="0" lang="en-US" sz="729" u="none" cap="none" strike="noStrike">
                  <a:solidFill>
                    <a:srgbClr val="FFFFFF"/>
                  </a:solidFill>
                  <a:latin typeface="Times"/>
                  <a:ea typeface="Times"/>
                  <a:cs typeface="Times"/>
                  <a:sym typeface="Times"/>
                </a:rPr>
                <a:t>ACADEMY OF HIGHER EDUCATION</a:t>
              </a:r>
              <a:endParaRPr/>
            </a:p>
          </p:txBody>
        </p:sp>
        <p:sp>
          <p:nvSpPr>
            <p:cNvPr id="119" name="Google Shape;119;p1"/>
            <p:cNvSpPr txBox="1"/>
            <p:nvPr/>
          </p:nvSpPr>
          <p:spPr>
            <a:xfrm>
              <a:off x="15125170" y="1075295"/>
              <a:ext cx="1956349" cy="138570"/>
            </a:xfrm>
            <a:prstGeom prst="rect">
              <a:avLst/>
            </a:prstGeom>
            <a:noFill/>
            <a:ln>
              <a:noFill/>
            </a:ln>
          </p:spPr>
          <p:txBody>
            <a:bodyPr anchorCtr="0" anchor="t" bIns="0" lIns="0" spcFirstLastPara="1" rIns="0" wrap="square" tIns="0">
              <a:spAutoFit/>
            </a:bodyPr>
            <a:lstStyle/>
            <a:p>
              <a:pPr indent="0" lvl="1" marL="0" marR="0" rtl="0" algn="l">
                <a:lnSpc>
                  <a:spcPct val="139965"/>
                </a:lnSpc>
                <a:spcBef>
                  <a:spcPts val="0"/>
                </a:spcBef>
                <a:spcAft>
                  <a:spcPts val="0"/>
                </a:spcAft>
                <a:buNone/>
              </a:pPr>
              <a:r>
                <a:rPr b="0" i="1" lang="en-US" sz="573" u="none" cap="none" strike="noStrike">
                  <a:solidFill>
                    <a:srgbClr val="FFFFFF"/>
                  </a:solidFill>
                  <a:latin typeface="Times"/>
                  <a:ea typeface="Times"/>
                  <a:cs typeface="Times"/>
                  <a:sym typeface="Times"/>
                </a:rPr>
                <a:t>Institution of Embrace Diamant in the University</a:t>
              </a:r>
              <a:endParaRPr/>
            </a:p>
          </p:txBody>
        </p:sp>
      </p:grpSp>
      <p:sp>
        <p:nvSpPr>
          <p:cNvPr id="120" name="Google Shape;120;p1"/>
          <p:cNvSpPr txBox="1"/>
          <p:nvPr/>
        </p:nvSpPr>
        <p:spPr>
          <a:xfrm>
            <a:off x="1591320" y="6523502"/>
            <a:ext cx="6949440" cy="1676400"/>
          </a:xfrm>
          <a:prstGeom prst="rect">
            <a:avLst/>
          </a:prstGeom>
          <a:noFill/>
          <a:ln>
            <a:noFill/>
          </a:ln>
        </p:spPr>
        <p:txBody>
          <a:bodyPr anchorCtr="0" anchor="t" bIns="0" lIns="0" spcFirstLastPara="1" rIns="0" wrap="square" tIns="0">
            <a:spAutoFit/>
          </a:bodyPr>
          <a:lstStyle/>
          <a:p>
            <a:pPr indent="0" lvl="0" marL="0" marR="0" rtl="0" algn="just">
              <a:lnSpc>
                <a:spcPct val="120023"/>
              </a:lnSpc>
              <a:spcBef>
                <a:spcPts val="0"/>
              </a:spcBef>
              <a:spcAft>
                <a:spcPts val="0"/>
              </a:spcAft>
              <a:buNone/>
            </a:pPr>
            <a:r>
              <a:rPr b="1" i="0" lang="en-US" sz="2502" u="none" cap="none" strike="noStrike">
                <a:solidFill>
                  <a:srgbClr val="000000"/>
                </a:solidFill>
                <a:latin typeface="Playfair Display SemiBold"/>
                <a:ea typeface="Playfair Display SemiBold"/>
                <a:cs typeface="Playfair Display SemiBold"/>
                <a:sym typeface="Playfair Display SemiBold"/>
              </a:rPr>
              <a:t>YOUR NAME: </a:t>
            </a:r>
            <a:r>
              <a:rPr b="0" sz="2100">
                <a:solidFill>
                  <a:srgbClr val="000000"/>
                </a:solidFill>
                <a:latin typeface="Playfair Display SemiBold"/>
              </a:rPr>
              <a:t>Bhavana B S &amp; Meghana K S</a:t>
            </a:r>
            <a:endParaRPr/>
          </a:p>
          <a:p>
            <a:pPr indent="0" lvl="0" marL="0" marR="0" rtl="0" algn="just">
              <a:lnSpc>
                <a:spcPct val="91247"/>
              </a:lnSpc>
              <a:spcBef>
                <a:spcPts val="0"/>
              </a:spcBef>
              <a:spcAft>
                <a:spcPts val="0"/>
              </a:spcAft>
              <a:buNone/>
            </a:pPr>
            <a:r>
              <a:t/>
            </a:r>
            <a:endParaRPr b="1" i="0" sz="2502" u="none" cap="none" strike="noStrike">
              <a:solidFill>
                <a:srgbClr val="000000"/>
              </a:solidFill>
              <a:latin typeface="Playfair Display SemiBold"/>
              <a:ea typeface="Playfair Display SemiBold"/>
              <a:cs typeface="Playfair Display SemiBold"/>
              <a:sym typeface="Playfair Display SemiBold"/>
            </a:endParaRPr>
          </a:p>
          <a:p>
            <a:pPr indent="0" lvl="0" marL="0" marR="0" rtl="0" algn="just">
              <a:lnSpc>
                <a:spcPct val="120023"/>
              </a:lnSpc>
              <a:spcBef>
                <a:spcPts val="0"/>
              </a:spcBef>
              <a:spcAft>
                <a:spcPts val="0"/>
              </a:spcAft>
              <a:buNone/>
            </a:pPr>
            <a:r>
              <a:rPr b="1" i="0" lang="en-US" sz="2502" u="none" cap="none" strike="noStrike">
                <a:solidFill>
                  <a:srgbClr val="000000"/>
                </a:solidFill>
                <a:latin typeface="Playfair Display SemiBold"/>
                <a:ea typeface="Playfair Display SemiBold"/>
                <a:cs typeface="Playfair Display SemiBold"/>
                <a:sym typeface="Playfair Display SemiBold"/>
              </a:rPr>
              <a:t>TEAM NAME: </a:t>
            </a:r>
            <a:r>
              <a:rPr b="0" sz="2100">
                <a:solidFill>
                  <a:srgbClr val="000000"/>
                </a:solidFill>
                <a:latin typeface="Playfair Display SemiBold"/>
              </a:rPr>
              <a:t>Luxe Logic</a:t>
            </a:r>
            <a:endParaRPr/>
          </a:p>
          <a:p>
            <a:pPr indent="0" lvl="0" marL="0" marR="0" rtl="0" algn="just">
              <a:lnSpc>
                <a:spcPct val="91247"/>
              </a:lnSpc>
              <a:spcBef>
                <a:spcPts val="0"/>
              </a:spcBef>
              <a:spcAft>
                <a:spcPts val="0"/>
              </a:spcAft>
              <a:buNone/>
            </a:pPr>
            <a:r>
              <a:t/>
            </a:r>
            <a:endParaRPr b="1" i="0" sz="2502" u="none" cap="none" strike="noStrike">
              <a:solidFill>
                <a:srgbClr val="000000"/>
              </a:solidFill>
              <a:latin typeface="Playfair Display SemiBold"/>
              <a:ea typeface="Playfair Display SemiBold"/>
              <a:cs typeface="Playfair Display SemiBold"/>
              <a:sym typeface="Playfair Display SemiBold"/>
            </a:endParaRPr>
          </a:p>
          <a:p>
            <a:pPr indent="0" lvl="0" marL="0" marR="0" rtl="0" algn="just">
              <a:lnSpc>
                <a:spcPct val="120026"/>
              </a:lnSpc>
              <a:spcBef>
                <a:spcPts val="0"/>
              </a:spcBef>
              <a:spcAft>
                <a:spcPts val="0"/>
              </a:spcAft>
              <a:buNone/>
            </a:pPr>
            <a:r>
              <a:rPr b="1" i="0" lang="en-US" sz="2302" u="none" cap="none" strike="noStrike">
                <a:solidFill>
                  <a:srgbClr val="000000"/>
                </a:solidFill>
                <a:latin typeface="Playfair Display SemiBold"/>
                <a:ea typeface="Playfair Display SemiBold"/>
                <a:cs typeface="Playfair Display SemiBold"/>
                <a:sym typeface="Playfair Display SemiBold"/>
              </a:rPr>
              <a:t>TRACK NO:</a:t>
            </a:r>
            <a:r>
              <a:rPr b="0" sz="1900">
                <a:solidFill>
                  <a:srgbClr val="000000"/>
                </a:solidFill>
                <a:latin typeface="Playfair Display SemiBold"/>
              </a:rPr>
              <a:t> PS22 – AI Automation with n8n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427" l="-7180" r="-3000" t="-19076"/>
            </a:stretch>
          </a:blipFill>
          <a:ln>
            <a:noFill/>
          </a:ln>
        </p:spPr>
        <p:txBody>
          <a:bodyPr/>
          <a:p/>
        </p:txBody>
      </p:sp>
      <p:sp>
        <p:nvSpPr>
          <p:cNvPr id="126" name="Google Shape;126;p2"/>
          <p:cNvSpPr/>
          <p:nvPr/>
        </p:nvSpPr>
        <p:spPr>
          <a:xfrm>
            <a:off x="5317038" y="-4518398"/>
            <a:ext cx="22188662" cy="18920878"/>
          </a:xfrm>
          <a:custGeom>
            <a:rect b="b" l="l" r="r" t="t"/>
            <a:pathLst>
              <a:path extrusionOk="0" h="18920878" w="22188662">
                <a:moveTo>
                  <a:pt x="0" y="0"/>
                </a:moveTo>
                <a:lnTo>
                  <a:pt x="22188663" y="0"/>
                </a:lnTo>
                <a:lnTo>
                  <a:pt x="22188663" y="18920878"/>
                </a:lnTo>
                <a:lnTo>
                  <a:pt x="0" y="18920878"/>
                </a:lnTo>
                <a:lnTo>
                  <a:pt x="0" y="0"/>
                </a:lnTo>
                <a:close/>
              </a:path>
            </a:pathLst>
          </a:custGeom>
          <a:blipFill rotWithShape="1">
            <a:blip r:embed="rId4">
              <a:alphaModFix/>
            </a:blip>
            <a:stretch>
              <a:fillRect b="0" l="0" r="0" t="0"/>
            </a:stretch>
          </a:blipFill>
          <a:ln>
            <a:noFill/>
          </a:ln>
        </p:spPr>
        <p:txBody>
          <a:bodyPr/>
          <a:p/>
        </p:txBody>
      </p:sp>
      <p:sp>
        <p:nvSpPr>
          <p:cNvPr id="127" name="Google Shape;127;p2"/>
          <p:cNvSpPr txBox="1"/>
          <p:nvPr/>
        </p:nvSpPr>
        <p:spPr>
          <a:xfrm>
            <a:off x="1028700" y="838200"/>
            <a:ext cx="16002000" cy="1704975"/>
          </a:xfrm>
          <a:prstGeom prst="rect">
            <a:avLst/>
          </a:prstGeom>
          <a:noFill/>
          <a:ln>
            <a:noFill/>
          </a:ln>
        </p:spPr>
        <p:txBody>
          <a:bodyPr anchorCtr="0" anchor="t" bIns="0" lIns="0" spcFirstLastPara="1" rIns="0" wrap="square" tIns="0">
            <a:spAutoFit/>
          </a:bodyPr>
          <a:lstStyle/>
          <a:p>
            <a:pPr indent="0" lvl="0" marL="0" marR="0" rtl="0" algn="l">
              <a:lnSpc>
                <a:spcPct val="119993"/>
              </a:lnSpc>
              <a:spcBef>
                <a:spcPts val="0"/>
              </a:spcBef>
              <a:spcAft>
                <a:spcPts val="0"/>
              </a:spcAft>
              <a:buNone/>
            </a:pPr>
            <a:r>
              <a:rPr b="0" i="0" lang="en-US" sz="6600" u="none" cap="none" strike="noStrike">
                <a:solidFill>
                  <a:srgbClr val="5DE0E6"/>
                </a:solidFill>
                <a:latin typeface="Times"/>
                <a:ea typeface="Times"/>
                <a:cs typeface="Times"/>
                <a:sym typeface="Times"/>
              </a:rPr>
              <a:t>Solution</a:t>
            </a:r>
            <a:endParaRPr/>
          </a:p>
        </p:txBody>
      </p:sp>
      <p:sp>
        <p:nvSpPr>
          <p:cNvPr id="128" name="Rounded Rectangle 127"/>
          <p:cNvSpPr/>
          <p:nvPr/>
        </p:nvSpPr>
        <p:spPr>
          <a:xfrm>
            <a:off x="1024128" y="2377440"/>
            <a:ext cx="16239744" cy="14630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29" name="TextBox 128"/>
          <p:cNvSpPr txBox="1"/>
          <p:nvPr/>
        </p:nvSpPr>
        <p:spPr>
          <a:xfrm>
            <a:off x="1371600" y="2514600"/>
            <a:ext cx="15544800" cy="1188720"/>
          </a:xfrm>
          <a:prstGeom prst="rect">
            <a:avLst/>
          </a:prstGeom>
          <a:noFill/>
        </p:spPr>
        <p:txBody>
          <a:bodyPr wrap="square" lIns="0" rIns="0" tIns="0" bIns="0" anchor="ctr">
            <a:spAutoFit/>
          </a:bodyPr>
          <a:lstStyle/>
          <a:p>
            <a:pPr algn="l">
              <a:spcAft>
                <a:spcPts val="0"/>
              </a:spcAft>
            </a:pPr>
            <a:r>
              <a:rPr sz="2600" b="1" i="0">
                <a:solidFill>
                  <a:srgbClr val="0F2A44"/>
                </a:solidFill>
                <a:latin typeface="Cambria"/>
              </a:rPr>
              <a:t>Emergency Supply Fairness Engine: </a:t>
            </a:r>
            <a:r>
              <a:rPr sz="2300" b="0" i="0">
                <a:solidFill>
                  <a:srgbClr val="0F2A44"/>
                </a:solidFill>
                <a:latin typeface="Calibri"/>
              </a:rPr>
              <a:t>an autonomous coordination layer that decides how scarce supplies are shared across city wards every day during floods and heatwaves. It senses shortages, compares fair distribution plans, drafts dispatch orders and keeps an officer in control.</a:t>
            </a:r>
          </a:p>
        </p:txBody>
      </p:sp>
      <p:sp>
        <p:nvSpPr>
          <p:cNvPr id="130" name="Rounded Rectangle 129"/>
          <p:cNvSpPr/>
          <p:nvPr/>
        </p:nvSpPr>
        <p:spPr>
          <a:xfrm>
            <a:off x="1024128" y="4069080"/>
            <a:ext cx="3840480" cy="274320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31" name="Oval 130"/>
          <p:cNvSpPr/>
          <p:nvPr/>
        </p:nvSpPr>
        <p:spPr>
          <a:xfrm>
            <a:off x="1298448" y="4343400"/>
            <a:ext cx="822960" cy="822960"/>
          </a:xfrm>
          <a:prstGeom prst="ellipse">
            <a:avLst/>
          </a:prstGeom>
          <a:solidFill>
            <a:srgbClr val="0E8C8C"/>
          </a:solidFill>
          <a:ln>
            <a:noFill/>
          </a:ln>
        </p:spPr>
        <p:txBody>
          <a:bodyPr rtlCol="0" anchor="ctr"/>
          <a:lstStyle/>
          <a:p>
            <a:pPr algn="ctr"/>
          </a:p>
        </p:txBody>
      </p:sp>
      <p:pic>
        <p:nvPicPr>
          <p:cNvPr id="132" name="Picture 131" descr="FaEye.png"/>
          <p:cNvPicPr>
            <a:picLocks noChangeAspect="1"/>
          </p:cNvPicPr>
          <p:nvPr/>
        </p:nvPicPr>
        <p:blipFill>
          <a:blip r:embed="rId5"/>
          <a:stretch>
            <a:fillRect/>
          </a:stretch>
        </p:blipFill>
        <p:spPr>
          <a:xfrm>
            <a:off x="1504188" y="4549140"/>
            <a:ext cx="411480" cy="411480"/>
          </a:xfrm>
          <a:prstGeom prst="rect">
            <a:avLst/>
          </a:prstGeom>
        </p:spPr>
      </p:pic>
      <p:sp>
        <p:nvSpPr>
          <p:cNvPr id="133" name="TextBox 132"/>
          <p:cNvSpPr txBox="1"/>
          <p:nvPr/>
        </p:nvSpPr>
        <p:spPr>
          <a:xfrm>
            <a:off x="2304288" y="4343400"/>
            <a:ext cx="2377440" cy="822960"/>
          </a:xfrm>
          <a:prstGeom prst="rect">
            <a:avLst/>
          </a:prstGeom>
          <a:noFill/>
        </p:spPr>
        <p:txBody>
          <a:bodyPr wrap="square" lIns="0" rIns="0" tIns="0" bIns="0" anchor="ctr">
            <a:spAutoFit/>
          </a:bodyPr>
          <a:lstStyle/>
          <a:p>
            <a:pPr algn="l">
              <a:spcAft>
                <a:spcPts val="0"/>
              </a:spcAft>
            </a:pPr>
            <a:r>
              <a:rPr sz="2800" b="1" i="0">
                <a:solidFill>
                  <a:srgbClr val="0F2A44"/>
                </a:solidFill>
                <a:latin typeface="Cambria"/>
              </a:rPr>
              <a:t>Sense</a:t>
            </a:r>
          </a:p>
        </p:txBody>
      </p:sp>
      <p:sp>
        <p:nvSpPr>
          <p:cNvPr id="134" name="TextBox 133"/>
          <p:cNvSpPr txBox="1"/>
          <p:nvPr/>
        </p:nvSpPr>
        <p:spPr>
          <a:xfrm>
            <a:off x="1298448" y="5349240"/>
            <a:ext cx="3291840" cy="1371600"/>
          </a:xfrm>
          <a:prstGeom prst="rect">
            <a:avLst/>
          </a:prstGeom>
          <a:noFill/>
        </p:spPr>
        <p:txBody>
          <a:bodyPr wrap="square" lIns="0" rIns="0" tIns="0" bIns="0" anchor="t">
            <a:spAutoFit/>
          </a:bodyPr>
          <a:lstStyle/>
          <a:p>
            <a:pPr algn="l">
              <a:spcAft>
                <a:spcPts val="0"/>
              </a:spcAft>
            </a:pPr>
            <a:r>
              <a:rPr sz="2200" b="0" i="0">
                <a:solidFill>
                  <a:srgbClr val="4B6578"/>
                </a:solidFill>
                <a:latin typeface="Calibri"/>
              </a:rPr>
              <a:t>Reads ward stock, warehouse stock, road status and vulnerability reports from separate silos.</a:t>
            </a:r>
          </a:p>
        </p:txBody>
      </p:sp>
      <p:sp>
        <p:nvSpPr>
          <p:cNvPr id="135" name="Rounded Rectangle 134"/>
          <p:cNvSpPr/>
          <p:nvPr/>
        </p:nvSpPr>
        <p:spPr>
          <a:xfrm>
            <a:off x="5157216" y="4069080"/>
            <a:ext cx="3840480" cy="274320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36" name="Oval 135"/>
          <p:cNvSpPr/>
          <p:nvPr/>
        </p:nvSpPr>
        <p:spPr>
          <a:xfrm>
            <a:off x="5431536" y="4343400"/>
            <a:ext cx="822960" cy="822960"/>
          </a:xfrm>
          <a:prstGeom prst="ellipse">
            <a:avLst/>
          </a:prstGeom>
          <a:solidFill>
            <a:srgbClr val="0E8C8C"/>
          </a:solidFill>
          <a:ln>
            <a:noFill/>
          </a:ln>
        </p:spPr>
        <p:txBody>
          <a:bodyPr rtlCol="0" anchor="ctr"/>
          <a:lstStyle/>
          <a:p>
            <a:pPr algn="ctr"/>
          </a:p>
        </p:txBody>
      </p:sp>
      <p:pic>
        <p:nvPicPr>
          <p:cNvPr id="137" name="Picture 136" descr="FaBalanceScale.png"/>
          <p:cNvPicPr>
            <a:picLocks noChangeAspect="1"/>
          </p:cNvPicPr>
          <p:nvPr/>
        </p:nvPicPr>
        <p:blipFill>
          <a:blip r:embed="rId6"/>
          <a:stretch>
            <a:fillRect/>
          </a:stretch>
        </p:blipFill>
        <p:spPr>
          <a:xfrm>
            <a:off x="5637275" y="4549140"/>
            <a:ext cx="411480" cy="411480"/>
          </a:xfrm>
          <a:prstGeom prst="rect">
            <a:avLst/>
          </a:prstGeom>
        </p:spPr>
      </p:pic>
      <p:sp>
        <p:nvSpPr>
          <p:cNvPr id="138" name="TextBox 137"/>
          <p:cNvSpPr txBox="1"/>
          <p:nvPr/>
        </p:nvSpPr>
        <p:spPr>
          <a:xfrm>
            <a:off x="6437375" y="4343400"/>
            <a:ext cx="2377440" cy="822960"/>
          </a:xfrm>
          <a:prstGeom prst="rect">
            <a:avLst/>
          </a:prstGeom>
          <a:noFill/>
        </p:spPr>
        <p:txBody>
          <a:bodyPr wrap="square" lIns="0" rIns="0" tIns="0" bIns="0" anchor="ctr">
            <a:spAutoFit/>
          </a:bodyPr>
          <a:lstStyle/>
          <a:p>
            <a:pPr algn="l">
              <a:spcAft>
                <a:spcPts val="0"/>
              </a:spcAft>
            </a:pPr>
            <a:r>
              <a:rPr sz="2800" b="1" i="0">
                <a:solidFill>
                  <a:srgbClr val="0F2A44"/>
                </a:solidFill>
                <a:latin typeface="Cambria"/>
              </a:rPr>
              <a:t>Compare</a:t>
            </a:r>
          </a:p>
        </p:txBody>
      </p:sp>
      <p:sp>
        <p:nvSpPr>
          <p:cNvPr id="139" name="TextBox 138"/>
          <p:cNvSpPr txBox="1"/>
          <p:nvPr/>
        </p:nvSpPr>
        <p:spPr>
          <a:xfrm>
            <a:off x="5431536" y="5349240"/>
            <a:ext cx="3291840" cy="1371600"/>
          </a:xfrm>
          <a:prstGeom prst="rect">
            <a:avLst/>
          </a:prstGeom>
          <a:noFill/>
        </p:spPr>
        <p:txBody>
          <a:bodyPr wrap="square" lIns="0" rIns="0" tIns="0" bIns="0" anchor="t">
            <a:spAutoFit/>
          </a:bodyPr>
          <a:lstStyle/>
          <a:p>
            <a:pPr algn="l">
              <a:spcAft>
                <a:spcPts val="0"/>
              </a:spcAft>
            </a:pPr>
            <a:r>
              <a:rPr sz="2200" b="0" i="0">
                <a:solidFill>
                  <a:srgbClr val="4B6578"/>
                </a:solidFill>
                <a:latin typeface="Calibri"/>
              </a:rPr>
              <a:t>Scores need, road access and fairness debt, then builds two competing plans.</a:t>
            </a:r>
          </a:p>
        </p:txBody>
      </p:sp>
      <p:sp>
        <p:nvSpPr>
          <p:cNvPr id="140" name="Rounded Rectangle 139"/>
          <p:cNvSpPr/>
          <p:nvPr/>
        </p:nvSpPr>
        <p:spPr>
          <a:xfrm>
            <a:off x="9290304" y="4069080"/>
            <a:ext cx="3840480" cy="274320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41" name="Oval 140"/>
          <p:cNvSpPr/>
          <p:nvPr/>
        </p:nvSpPr>
        <p:spPr>
          <a:xfrm>
            <a:off x="9564624" y="4343400"/>
            <a:ext cx="822960" cy="822960"/>
          </a:xfrm>
          <a:prstGeom prst="ellipse">
            <a:avLst/>
          </a:prstGeom>
          <a:solidFill>
            <a:srgbClr val="0E8C8C"/>
          </a:solidFill>
          <a:ln>
            <a:noFill/>
          </a:ln>
        </p:spPr>
        <p:txBody>
          <a:bodyPr rtlCol="0" anchor="ctr"/>
          <a:lstStyle/>
          <a:p>
            <a:pPr algn="ctr"/>
          </a:p>
        </p:txBody>
      </p:sp>
      <p:pic>
        <p:nvPicPr>
          <p:cNvPr id="142" name="Picture 141" descr="FaBolt.png"/>
          <p:cNvPicPr>
            <a:picLocks noChangeAspect="1"/>
          </p:cNvPicPr>
          <p:nvPr/>
        </p:nvPicPr>
        <p:blipFill>
          <a:blip r:embed="rId7"/>
          <a:stretch>
            <a:fillRect/>
          </a:stretch>
        </p:blipFill>
        <p:spPr>
          <a:xfrm>
            <a:off x="9770364" y="4549140"/>
            <a:ext cx="411480" cy="411480"/>
          </a:xfrm>
          <a:prstGeom prst="rect">
            <a:avLst/>
          </a:prstGeom>
        </p:spPr>
      </p:pic>
      <p:sp>
        <p:nvSpPr>
          <p:cNvPr id="143" name="TextBox 142"/>
          <p:cNvSpPr txBox="1"/>
          <p:nvPr/>
        </p:nvSpPr>
        <p:spPr>
          <a:xfrm>
            <a:off x="10570464" y="4343400"/>
            <a:ext cx="2377440" cy="822960"/>
          </a:xfrm>
          <a:prstGeom prst="rect">
            <a:avLst/>
          </a:prstGeom>
          <a:noFill/>
        </p:spPr>
        <p:txBody>
          <a:bodyPr wrap="square" lIns="0" rIns="0" tIns="0" bIns="0" anchor="ctr">
            <a:spAutoFit/>
          </a:bodyPr>
          <a:lstStyle/>
          <a:p>
            <a:pPr algn="l">
              <a:spcAft>
                <a:spcPts val="0"/>
              </a:spcAft>
            </a:pPr>
            <a:r>
              <a:rPr sz="2800" b="1" i="0">
                <a:solidFill>
                  <a:srgbClr val="0F2A44"/>
                </a:solidFill>
                <a:latin typeface="Cambria"/>
              </a:rPr>
              <a:t>Act</a:t>
            </a:r>
          </a:p>
        </p:txBody>
      </p:sp>
      <p:sp>
        <p:nvSpPr>
          <p:cNvPr id="144" name="TextBox 143"/>
          <p:cNvSpPr txBox="1"/>
          <p:nvPr/>
        </p:nvSpPr>
        <p:spPr>
          <a:xfrm>
            <a:off x="9564624" y="5349240"/>
            <a:ext cx="3291840" cy="1371600"/>
          </a:xfrm>
          <a:prstGeom prst="rect">
            <a:avLst/>
          </a:prstGeom>
          <a:noFill/>
        </p:spPr>
        <p:txBody>
          <a:bodyPr wrap="square" lIns="0" rIns="0" tIns="0" bIns="0" anchor="t">
            <a:spAutoFit/>
          </a:bodyPr>
          <a:lstStyle/>
          <a:p>
            <a:pPr algn="l">
              <a:spcAft>
                <a:spcPts val="0"/>
              </a:spcAft>
            </a:pPr>
            <a:r>
              <a:rPr sz="2200" b="0" i="0">
                <a:solidFill>
                  <a:srgbClr val="4B6578"/>
                </a:solidFill>
                <a:latin typeface="Calibri"/>
              </a:rPr>
              <a:t>Drafts dispatch orders and triggers the delivery request once the plan is approved.</a:t>
            </a:r>
          </a:p>
        </p:txBody>
      </p:sp>
      <p:sp>
        <p:nvSpPr>
          <p:cNvPr id="145" name="Rounded Rectangle 144"/>
          <p:cNvSpPr/>
          <p:nvPr/>
        </p:nvSpPr>
        <p:spPr>
          <a:xfrm>
            <a:off x="13423392" y="4069080"/>
            <a:ext cx="3840480" cy="274320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46" name="Oval 145"/>
          <p:cNvSpPr/>
          <p:nvPr/>
        </p:nvSpPr>
        <p:spPr>
          <a:xfrm>
            <a:off x="13697712" y="4343400"/>
            <a:ext cx="822960" cy="822960"/>
          </a:xfrm>
          <a:prstGeom prst="ellipse">
            <a:avLst/>
          </a:prstGeom>
          <a:solidFill>
            <a:srgbClr val="0E8C8C"/>
          </a:solidFill>
          <a:ln>
            <a:noFill/>
          </a:ln>
        </p:spPr>
        <p:txBody>
          <a:bodyPr rtlCol="0" anchor="ctr"/>
          <a:lstStyle/>
          <a:p>
            <a:pPr algn="ctr"/>
          </a:p>
        </p:txBody>
      </p:sp>
      <p:pic>
        <p:nvPicPr>
          <p:cNvPr id="147" name="Picture 146" descr="FaUserCheck.png"/>
          <p:cNvPicPr>
            <a:picLocks noChangeAspect="1"/>
          </p:cNvPicPr>
          <p:nvPr/>
        </p:nvPicPr>
        <p:blipFill>
          <a:blip r:embed="rId8"/>
          <a:stretch>
            <a:fillRect/>
          </a:stretch>
        </p:blipFill>
        <p:spPr>
          <a:xfrm>
            <a:off x="13903452" y="4549140"/>
            <a:ext cx="411480" cy="411480"/>
          </a:xfrm>
          <a:prstGeom prst="rect">
            <a:avLst/>
          </a:prstGeom>
        </p:spPr>
      </p:pic>
      <p:sp>
        <p:nvSpPr>
          <p:cNvPr id="148" name="TextBox 147"/>
          <p:cNvSpPr txBox="1"/>
          <p:nvPr/>
        </p:nvSpPr>
        <p:spPr>
          <a:xfrm>
            <a:off x="14703551" y="4343400"/>
            <a:ext cx="2377440" cy="822960"/>
          </a:xfrm>
          <a:prstGeom prst="rect">
            <a:avLst/>
          </a:prstGeom>
          <a:noFill/>
        </p:spPr>
        <p:txBody>
          <a:bodyPr wrap="square" lIns="0" rIns="0" tIns="0" bIns="0" anchor="ctr">
            <a:spAutoFit/>
          </a:bodyPr>
          <a:lstStyle/>
          <a:p>
            <a:pPr algn="l">
              <a:spcAft>
                <a:spcPts val="0"/>
              </a:spcAft>
            </a:pPr>
            <a:r>
              <a:rPr sz="2800" b="1" i="0">
                <a:solidFill>
                  <a:srgbClr val="0F2A44"/>
                </a:solidFill>
                <a:latin typeface="Cambria"/>
              </a:rPr>
              <a:t>Oversee</a:t>
            </a:r>
          </a:p>
        </p:txBody>
      </p:sp>
      <p:sp>
        <p:nvSpPr>
          <p:cNvPr id="149" name="TextBox 148"/>
          <p:cNvSpPr txBox="1"/>
          <p:nvPr/>
        </p:nvSpPr>
        <p:spPr>
          <a:xfrm>
            <a:off x="13697712" y="5349240"/>
            <a:ext cx="3291840" cy="1371600"/>
          </a:xfrm>
          <a:prstGeom prst="rect">
            <a:avLst/>
          </a:prstGeom>
          <a:noFill/>
        </p:spPr>
        <p:txBody>
          <a:bodyPr wrap="square" lIns="0" rIns="0" tIns="0" bIns="0" anchor="t">
            <a:spAutoFit/>
          </a:bodyPr>
          <a:lstStyle/>
          <a:p>
            <a:pPr algn="l">
              <a:spcAft>
                <a:spcPts val="0"/>
              </a:spcAft>
            </a:pPr>
            <a:r>
              <a:rPr sz="2200" b="0" i="0">
                <a:solidFill>
                  <a:srgbClr val="4B6578"/>
                </a:solidFill>
                <a:latin typeface="Calibri"/>
              </a:rPr>
              <a:t>Officer receives a Fairness Report and approves or edits before anything moves.</a:t>
            </a:r>
          </a:p>
        </p:txBody>
      </p:sp>
      <p:sp>
        <p:nvSpPr>
          <p:cNvPr id="150" name="Rounded Rectangle 149"/>
          <p:cNvSpPr/>
          <p:nvPr/>
        </p:nvSpPr>
        <p:spPr>
          <a:xfrm>
            <a:off x="1024128" y="7086600"/>
            <a:ext cx="5230368" cy="2011680"/>
          </a:xfrm>
          <a:prstGeom prst="roundRect">
            <a:avLst>
              <a:gd name="adj" fmla="val 6000"/>
            </a:avLst>
          </a:prstGeom>
          <a:solidFill>
            <a:srgbClr val="0F2A44"/>
          </a:solidFill>
          <a:ln>
            <a:noFill/>
          </a:ln>
        </p:spPr>
        <p:txBody>
          <a:bodyPr rtlCol="0" anchor="ctr"/>
          <a:lstStyle/>
          <a:p>
            <a:pPr algn="ctr"/>
          </a:p>
        </p:txBody>
      </p:sp>
      <p:sp>
        <p:nvSpPr>
          <p:cNvPr id="151" name="TextBox 150"/>
          <p:cNvSpPr txBox="1"/>
          <p:nvPr/>
        </p:nvSpPr>
        <p:spPr>
          <a:xfrm>
            <a:off x="1344168" y="7315200"/>
            <a:ext cx="4572000" cy="457200"/>
          </a:xfrm>
          <a:prstGeom prst="rect">
            <a:avLst/>
          </a:prstGeom>
          <a:noFill/>
        </p:spPr>
        <p:txBody>
          <a:bodyPr wrap="square" lIns="0" rIns="0" tIns="0" bIns="0" anchor="t">
            <a:spAutoFit/>
          </a:bodyPr>
          <a:lstStyle/>
          <a:p>
            <a:pPr algn="l">
              <a:spcAft>
                <a:spcPts val="0"/>
              </a:spcAft>
            </a:pPr>
            <a:r>
              <a:rPr sz="2500" b="1" i="0">
                <a:solidFill>
                  <a:srgbClr val="5DE0E6"/>
                </a:solidFill>
                <a:latin typeface="Cambria"/>
              </a:rPr>
              <a:t>Fairness Debt Tracking</a:t>
            </a:r>
          </a:p>
        </p:txBody>
      </p:sp>
      <p:sp>
        <p:nvSpPr>
          <p:cNvPr id="152" name="TextBox 151"/>
          <p:cNvSpPr txBox="1"/>
          <p:nvPr/>
        </p:nvSpPr>
        <p:spPr>
          <a:xfrm>
            <a:off x="1344168" y="7909560"/>
            <a:ext cx="4572000" cy="1097280"/>
          </a:xfrm>
          <a:prstGeom prst="rect">
            <a:avLst/>
          </a:prstGeom>
          <a:noFill/>
        </p:spPr>
        <p:txBody>
          <a:bodyPr wrap="square" lIns="0" rIns="0" tIns="0" bIns="0" anchor="t">
            <a:spAutoFit/>
          </a:bodyPr>
          <a:lstStyle/>
          <a:p>
            <a:pPr algn="l">
              <a:spcAft>
                <a:spcPts val="0"/>
              </a:spcAft>
            </a:pPr>
            <a:r>
              <a:rPr sz="2000" b="0" i="0">
                <a:solidFill>
                  <a:srgbClr val="FFFFFF"/>
                </a:solidFill>
                <a:latin typeface="Calibri"/>
              </a:rPr>
              <a:t>Remembers wards that were underserved in earlier cycles and raises their priority next time.</a:t>
            </a:r>
          </a:p>
        </p:txBody>
      </p:sp>
      <p:sp>
        <p:nvSpPr>
          <p:cNvPr id="153" name="Rounded Rectangle 152"/>
          <p:cNvSpPr/>
          <p:nvPr/>
        </p:nvSpPr>
        <p:spPr>
          <a:xfrm>
            <a:off x="6528816" y="7086600"/>
            <a:ext cx="5230368" cy="2011680"/>
          </a:xfrm>
          <a:prstGeom prst="roundRect">
            <a:avLst>
              <a:gd name="adj" fmla="val 6000"/>
            </a:avLst>
          </a:prstGeom>
          <a:solidFill>
            <a:srgbClr val="0F2A44"/>
          </a:solidFill>
          <a:ln>
            <a:noFill/>
          </a:ln>
        </p:spPr>
        <p:txBody>
          <a:bodyPr rtlCol="0" anchor="ctr"/>
          <a:lstStyle/>
          <a:p>
            <a:pPr algn="ctr"/>
          </a:p>
        </p:txBody>
      </p:sp>
      <p:sp>
        <p:nvSpPr>
          <p:cNvPr id="154" name="TextBox 153"/>
          <p:cNvSpPr txBox="1"/>
          <p:nvPr/>
        </p:nvSpPr>
        <p:spPr>
          <a:xfrm>
            <a:off x="6848855" y="7315200"/>
            <a:ext cx="4572000" cy="457200"/>
          </a:xfrm>
          <a:prstGeom prst="rect">
            <a:avLst/>
          </a:prstGeom>
          <a:noFill/>
        </p:spPr>
        <p:txBody>
          <a:bodyPr wrap="square" lIns="0" rIns="0" tIns="0" bIns="0" anchor="t">
            <a:spAutoFit/>
          </a:bodyPr>
          <a:lstStyle/>
          <a:p>
            <a:pPr algn="l">
              <a:spcAft>
                <a:spcPts val="0"/>
              </a:spcAft>
            </a:pPr>
            <a:r>
              <a:rPr sz="2500" b="1" i="0">
                <a:solidFill>
                  <a:srgbClr val="5DE0E6"/>
                </a:solidFill>
                <a:latin typeface="Cambria"/>
              </a:rPr>
              <a:t>Trade-offs made visible</a:t>
            </a:r>
          </a:p>
        </p:txBody>
      </p:sp>
      <p:sp>
        <p:nvSpPr>
          <p:cNvPr id="155" name="TextBox 154"/>
          <p:cNvSpPr txBox="1"/>
          <p:nvPr/>
        </p:nvSpPr>
        <p:spPr>
          <a:xfrm>
            <a:off x="6848855" y="7909560"/>
            <a:ext cx="4572000" cy="1097280"/>
          </a:xfrm>
          <a:prstGeom prst="rect">
            <a:avLst/>
          </a:prstGeom>
          <a:noFill/>
        </p:spPr>
        <p:txBody>
          <a:bodyPr wrap="square" lIns="0" rIns="0" tIns="0" bIns="0" anchor="t">
            <a:spAutoFit/>
          </a:bodyPr>
          <a:lstStyle/>
          <a:p>
            <a:pPr algn="l">
              <a:spcAft>
                <a:spcPts val="0"/>
              </a:spcAft>
            </a:pPr>
            <a:r>
              <a:rPr sz="2000" b="0" i="0">
                <a:solidFill>
                  <a:srgbClr val="FFFFFF"/>
                </a:solidFill>
                <a:latin typeface="Calibri"/>
              </a:rPr>
              <a:t>Side-by-side plans show who gains and who loses under each policy. The officer chooses.</a:t>
            </a:r>
          </a:p>
        </p:txBody>
      </p:sp>
      <p:sp>
        <p:nvSpPr>
          <p:cNvPr id="156" name="Rounded Rectangle 155"/>
          <p:cNvSpPr/>
          <p:nvPr/>
        </p:nvSpPr>
        <p:spPr>
          <a:xfrm>
            <a:off x="12033504" y="7086600"/>
            <a:ext cx="5230368" cy="2011680"/>
          </a:xfrm>
          <a:prstGeom prst="roundRect">
            <a:avLst>
              <a:gd name="adj" fmla="val 6000"/>
            </a:avLst>
          </a:prstGeom>
          <a:solidFill>
            <a:srgbClr val="0F2A44"/>
          </a:solidFill>
          <a:ln>
            <a:noFill/>
          </a:ln>
        </p:spPr>
        <p:txBody>
          <a:bodyPr rtlCol="0" anchor="ctr"/>
          <a:lstStyle/>
          <a:p>
            <a:pPr algn="ctr"/>
          </a:p>
        </p:txBody>
      </p:sp>
      <p:sp>
        <p:nvSpPr>
          <p:cNvPr id="157" name="TextBox 156"/>
          <p:cNvSpPr txBox="1"/>
          <p:nvPr/>
        </p:nvSpPr>
        <p:spPr>
          <a:xfrm>
            <a:off x="12353544" y="7315200"/>
            <a:ext cx="4572000" cy="457200"/>
          </a:xfrm>
          <a:prstGeom prst="rect">
            <a:avLst/>
          </a:prstGeom>
          <a:noFill/>
        </p:spPr>
        <p:txBody>
          <a:bodyPr wrap="square" lIns="0" rIns="0" tIns="0" bIns="0" anchor="t">
            <a:spAutoFit/>
          </a:bodyPr>
          <a:lstStyle/>
          <a:p>
            <a:pPr algn="l">
              <a:spcAft>
                <a:spcPts val="0"/>
              </a:spcAft>
            </a:pPr>
            <a:r>
              <a:rPr sz="2500" b="1" i="0">
                <a:solidFill>
                  <a:srgbClr val="5DE0E6"/>
                </a:solidFill>
                <a:latin typeface="Cambria"/>
              </a:rPr>
              <a:t>Replayable evidence</a:t>
            </a:r>
          </a:p>
        </p:txBody>
      </p:sp>
      <p:sp>
        <p:nvSpPr>
          <p:cNvPr id="158" name="TextBox 157"/>
          <p:cNvSpPr txBox="1"/>
          <p:nvPr/>
        </p:nvSpPr>
        <p:spPr>
          <a:xfrm>
            <a:off x="12353544" y="7909560"/>
            <a:ext cx="4572000" cy="1097280"/>
          </a:xfrm>
          <a:prstGeom prst="rect">
            <a:avLst/>
          </a:prstGeom>
          <a:noFill/>
        </p:spPr>
        <p:txBody>
          <a:bodyPr wrap="square" lIns="0" rIns="0" tIns="0" bIns="0" anchor="t">
            <a:spAutoFit/>
          </a:bodyPr>
          <a:lstStyle/>
          <a:p>
            <a:pPr algn="l">
              <a:spcAft>
                <a:spcPts val="0"/>
              </a:spcAft>
            </a:pPr>
            <a:r>
              <a:rPr sz="2000" b="0" i="0">
                <a:solidFill>
                  <a:srgbClr val="FFFFFF"/>
                </a:solidFill>
                <a:latin typeface="Calibri"/>
              </a:rPr>
              <a:t>Every recommendation can be replayed from the saved inputs, rules and weights.</a:t>
            </a:r>
          </a:p>
        </p:txBody>
      </p:sp>
      <p:sp>
        <p:nvSpPr>
          <p:cNvPr id="159" name="TextBox 158"/>
          <p:cNvSpPr txBox="1"/>
          <p:nvPr/>
        </p:nvSpPr>
        <p:spPr>
          <a:xfrm>
            <a:off x="1024128" y="9326880"/>
            <a:ext cx="16239744" cy="457200"/>
          </a:xfrm>
          <a:prstGeom prst="rect">
            <a:avLst/>
          </a:prstGeom>
          <a:noFill/>
        </p:spPr>
        <p:txBody>
          <a:bodyPr wrap="square" lIns="0" rIns="0" tIns="0" bIns="0" anchor="t">
            <a:spAutoFit/>
          </a:bodyPr>
          <a:lstStyle/>
          <a:p>
            <a:pPr algn="l">
              <a:spcAft>
                <a:spcPts val="0"/>
              </a:spcAft>
            </a:pPr>
            <a:r>
              <a:rPr sz="1900" b="0" i="1">
                <a:solidFill>
                  <a:srgbClr val="4B6578"/>
                </a:solidFill>
                <a:latin typeface="Calibri"/>
              </a:rPr>
              <a:t>Carrier process: daily ward-level supply cycles in floods and heatwaves. The prototype runs on synthetic data.</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427" l="-7180" r="-3000" t="-19076"/>
            </a:stretch>
          </a:blipFill>
          <a:ln>
            <a:noFill/>
          </a:ln>
        </p:spPr>
        <p:txBody>
          <a:bodyPr/>
          <a:p/>
        </p:txBody>
      </p:sp>
      <p:sp>
        <p:nvSpPr>
          <p:cNvPr id="133" name="Google Shape;133;p3"/>
          <p:cNvSpPr/>
          <p:nvPr/>
        </p:nvSpPr>
        <p:spPr>
          <a:xfrm>
            <a:off x="5317038" y="-4518398"/>
            <a:ext cx="22188662" cy="18920878"/>
          </a:xfrm>
          <a:custGeom>
            <a:rect b="b" l="l" r="r" t="t"/>
            <a:pathLst>
              <a:path extrusionOk="0" h="18920878" w="22188662">
                <a:moveTo>
                  <a:pt x="0" y="0"/>
                </a:moveTo>
                <a:lnTo>
                  <a:pt x="22188663" y="0"/>
                </a:lnTo>
                <a:lnTo>
                  <a:pt x="22188663" y="18920878"/>
                </a:lnTo>
                <a:lnTo>
                  <a:pt x="0" y="18920878"/>
                </a:lnTo>
                <a:lnTo>
                  <a:pt x="0" y="0"/>
                </a:lnTo>
                <a:close/>
              </a:path>
            </a:pathLst>
          </a:custGeom>
          <a:blipFill rotWithShape="1">
            <a:blip r:embed="rId4">
              <a:alphaModFix/>
            </a:blip>
            <a:stretch>
              <a:fillRect b="0" l="0" r="0" t="0"/>
            </a:stretch>
          </a:blipFill>
          <a:ln>
            <a:noFill/>
          </a:ln>
        </p:spPr>
        <p:txBody>
          <a:bodyPr/>
          <a:p/>
        </p:txBody>
      </p:sp>
      <p:sp>
        <p:nvSpPr>
          <p:cNvPr id="134" name="Google Shape;134;p3"/>
          <p:cNvSpPr txBox="1"/>
          <p:nvPr/>
        </p:nvSpPr>
        <p:spPr>
          <a:xfrm>
            <a:off x="1028700" y="838200"/>
            <a:ext cx="16002000" cy="1704975"/>
          </a:xfrm>
          <a:prstGeom prst="rect">
            <a:avLst/>
          </a:prstGeom>
          <a:noFill/>
          <a:ln>
            <a:noFill/>
          </a:ln>
        </p:spPr>
        <p:txBody>
          <a:bodyPr anchorCtr="0" anchor="t" bIns="0" lIns="0" spcFirstLastPara="1" rIns="0" wrap="square" tIns="0">
            <a:spAutoFit/>
          </a:bodyPr>
          <a:lstStyle/>
          <a:p>
            <a:pPr indent="0" lvl="0" marL="0" marR="0" rtl="0" algn="l">
              <a:lnSpc>
                <a:spcPct val="119993"/>
              </a:lnSpc>
              <a:spcBef>
                <a:spcPts val="0"/>
              </a:spcBef>
              <a:spcAft>
                <a:spcPts val="0"/>
              </a:spcAft>
              <a:buNone/>
            </a:pPr>
            <a:r>
              <a:rPr b="0" i="0" lang="en-US" sz="6600" u="none" cap="none" strike="noStrike">
                <a:solidFill>
                  <a:srgbClr val="5DE0E6"/>
                </a:solidFill>
                <a:latin typeface="Times"/>
                <a:ea typeface="Times"/>
                <a:cs typeface="Times"/>
                <a:sym typeface="Times"/>
              </a:rPr>
              <a:t>Tech Stack &amp; Architecture</a:t>
            </a:r>
            <a:endParaRPr/>
          </a:p>
        </p:txBody>
      </p:sp>
      <p:sp>
        <p:nvSpPr>
          <p:cNvPr id="135" name="Rounded Rectangle 134"/>
          <p:cNvSpPr/>
          <p:nvPr/>
        </p:nvSpPr>
        <p:spPr>
          <a:xfrm>
            <a:off x="1024128" y="2377440"/>
            <a:ext cx="5230368" cy="32918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36" name="Oval 135"/>
          <p:cNvSpPr/>
          <p:nvPr/>
        </p:nvSpPr>
        <p:spPr>
          <a:xfrm>
            <a:off x="1344168" y="2697480"/>
            <a:ext cx="914400" cy="914400"/>
          </a:xfrm>
          <a:prstGeom prst="ellipse">
            <a:avLst/>
          </a:prstGeom>
          <a:solidFill>
            <a:srgbClr val="0E8C8C"/>
          </a:solidFill>
          <a:ln>
            <a:noFill/>
          </a:ln>
        </p:spPr>
        <p:txBody>
          <a:bodyPr rtlCol="0" anchor="ctr"/>
          <a:lstStyle/>
          <a:p>
            <a:pPr algn="ctr"/>
          </a:p>
        </p:txBody>
      </p:sp>
      <p:pic>
        <p:nvPicPr>
          <p:cNvPr id="137" name="Picture 136" descr="FaCogs.png"/>
          <p:cNvPicPr>
            <a:picLocks noChangeAspect="1"/>
          </p:cNvPicPr>
          <p:nvPr/>
        </p:nvPicPr>
        <p:blipFill>
          <a:blip r:embed="rId5"/>
          <a:stretch>
            <a:fillRect/>
          </a:stretch>
        </p:blipFill>
        <p:spPr>
          <a:xfrm>
            <a:off x="1572768" y="2926080"/>
            <a:ext cx="457200" cy="457200"/>
          </a:xfrm>
          <a:prstGeom prst="rect">
            <a:avLst/>
          </a:prstGeom>
        </p:spPr>
      </p:pic>
      <p:sp>
        <p:nvSpPr>
          <p:cNvPr id="138" name="TextBox 137"/>
          <p:cNvSpPr txBox="1"/>
          <p:nvPr/>
        </p:nvSpPr>
        <p:spPr>
          <a:xfrm>
            <a:off x="2487168" y="2697480"/>
            <a:ext cx="3566160" cy="914400"/>
          </a:xfrm>
          <a:prstGeom prst="rect">
            <a:avLst/>
          </a:prstGeom>
          <a:noFill/>
        </p:spPr>
        <p:txBody>
          <a:bodyPr wrap="square" lIns="0" rIns="0" tIns="0" bIns="0" anchor="ctr">
            <a:spAutoFit/>
          </a:bodyPr>
          <a:lstStyle/>
          <a:p>
            <a:pPr algn="l">
              <a:spcAft>
                <a:spcPts val="0"/>
              </a:spcAft>
            </a:pPr>
            <a:r>
              <a:rPr sz="2800" b="1" i="0">
                <a:solidFill>
                  <a:srgbClr val="0F2A44"/>
                </a:solidFill>
                <a:latin typeface="Cambria"/>
              </a:rPr>
              <a:t>Orchestration</a:t>
            </a:r>
          </a:p>
        </p:txBody>
      </p:sp>
      <p:sp>
        <p:nvSpPr>
          <p:cNvPr id="139" name="TextBox 138"/>
          <p:cNvSpPr txBox="1"/>
          <p:nvPr/>
        </p:nvSpPr>
        <p:spPr>
          <a:xfrm>
            <a:off x="1344168" y="3840480"/>
            <a:ext cx="4572000" cy="1737360"/>
          </a:xfrm>
          <a:prstGeom prst="rect">
            <a:avLst/>
          </a:prstGeom>
          <a:noFill/>
        </p:spPr>
        <p:txBody>
          <a:bodyPr wrap="square" lIns="0" rIns="0" tIns="0" bIns="0" anchor="t">
            <a:spAutoFit/>
          </a:bodyPr>
          <a:lstStyle/>
          <a:p>
            <a:pPr algn="l">
              <a:spcAft>
                <a:spcPts val="0"/>
              </a:spcAft>
            </a:pPr>
            <a:r>
              <a:rPr sz="2100" b="0" i="0">
                <a:solidFill>
                  <a:srgbClr val="4B6578"/>
                </a:solidFill>
                <a:latin typeface="Calibri"/>
              </a:rPr>
              <a:t>Built: n8n workflow with a manual trigger and four chained Code-node stages.</a:t>
            </a:r>
          </a:p>
        </p:txBody>
      </p:sp>
      <p:sp>
        <p:nvSpPr>
          <p:cNvPr id="140" name="Rounded Rectangle 139"/>
          <p:cNvSpPr/>
          <p:nvPr/>
        </p:nvSpPr>
        <p:spPr>
          <a:xfrm>
            <a:off x="6528816" y="2377440"/>
            <a:ext cx="5230368" cy="32918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41" name="Oval 140"/>
          <p:cNvSpPr/>
          <p:nvPr/>
        </p:nvSpPr>
        <p:spPr>
          <a:xfrm>
            <a:off x="6848855" y="2697480"/>
            <a:ext cx="914400" cy="914400"/>
          </a:xfrm>
          <a:prstGeom prst="ellipse">
            <a:avLst/>
          </a:prstGeom>
          <a:solidFill>
            <a:srgbClr val="0E8C8C"/>
          </a:solidFill>
          <a:ln>
            <a:noFill/>
          </a:ln>
        </p:spPr>
        <p:txBody>
          <a:bodyPr rtlCol="0" anchor="ctr"/>
          <a:lstStyle/>
          <a:p>
            <a:pPr algn="ctr"/>
          </a:p>
        </p:txBody>
      </p:sp>
      <p:pic>
        <p:nvPicPr>
          <p:cNvPr id="142" name="Picture 141" descr="FaCalculator.png"/>
          <p:cNvPicPr>
            <a:picLocks noChangeAspect="1"/>
          </p:cNvPicPr>
          <p:nvPr/>
        </p:nvPicPr>
        <p:blipFill>
          <a:blip r:embed="rId6"/>
          <a:stretch>
            <a:fillRect/>
          </a:stretch>
        </p:blipFill>
        <p:spPr>
          <a:xfrm>
            <a:off x="7077455" y="2926080"/>
            <a:ext cx="457200" cy="457200"/>
          </a:xfrm>
          <a:prstGeom prst="rect">
            <a:avLst/>
          </a:prstGeom>
        </p:spPr>
      </p:pic>
      <p:sp>
        <p:nvSpPr>
          <p:cNvPr id="143" name="TextBox 142"/>
          <p:cNvSpPr txBox="1"/>
          <p:nvPr/>
        </p:nvSpPr>
        <p:spPr>
          <a:xfrm>
            <a:off x="7991856" y="2697480"/>
            <a:ext cx="3566160" cy="914400"/>
          </a:xfrm>
          <a:prstGeom prst="rect">
            <a:avLst/>
          </a:prstGeom>
          <a:noFill/>
        </p:spPr>
        <p:txBody>
          <a:bodyPr wrap="square" lIns="0" rIns="0" tIns="0" bIns="0" anchor="ctr">
            <a:spAutoFit/>
          </a:bodyPr>
          <a:lstStyle/>
          <a:p>
            <a:pPr algn="l">
              <a:spcAft>
                <a:spcPts val="0"/>
              </a:spcAft>
            </a:pPr>
            <a:r>
              <a:rPr sz="2800" b="1" i="0">
                <a:solidFill>
                  <a:srgbClr val="0F2A44"/>
                </a:solidFill>
                <a:latin typeface="Cambria"/>
              </a:rPr>
              <a:t>Decision engine</a:t>
            </a:r>
          </a:p>
        </p:txBody>
      </p:sp>
      <p:sp>
        <p:nvSpPr>
          <p:cNvPr id="144" name="TextBox 143"/>
          <p:cNvSpPr txBox="1"/>
          <p:nvPr/>
        </p:nvSpPr>
        <p:spPr>
          <a:xfrm>
            <a:off x="6848855" y="3840480"/>
            <a:ext cx="4572000" cy="1737360"/>
          </a:xfrm>
          <a:prstGeom prst="rect">
            <a:avLst/>
          </a:prstGeom>
          <a:noFill/>
        </p:spPr>
        <p:txBody>
          <a:bodyPr wrap="square" lIns="0" rIns="0" tIns="0" bIns="0" anchor="t">
            <a:spAutoFit/>
          </a:bodyPr>
          <a:lstStyle/>
          <a:p>
            <a:pPr algn="l">
              <a:spcAft>
                <a:spcPts val="0"/>
              </a:spcAft>
            </a:pPr>
            <a:r>
              <a:rPr sz="2100" b="0" i="0">
                <a:solidFill>
                  <a:srgbClr val="4B6578"/>
                </a:solidFill>
                <a:latin typeface="Calibri"/>
              </a:rPr>
              <a:t>Built: n8n Code nodes compute need scores, road-aware routing, fairness debt and both plans. Fully deterministic.</a:t>
            </a:r>
          </a:p>
        </p:txBody>
      </p:sp>
      <p:sp>
        <p:nvSpPr>
          <p:cNvPr id="145" name="Rounded Rectangle 144"/>
          <p:cNvSpPr/>
          <p:nvPr/>
        </p:nvSpPr>
        <p:spPr>
          <a:xfrm>
            <a:off x="12033504" y="2377440"/>
            <a:ext cx="5230368" cy="32918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46" name="Oval 145"/>
          <p:cNvSpPr/>
          <p:nvPr/>
        </p:nvSpPr>
        <p:spPr>
          <a:xfrm>
            <a:off x="12353544" y="2697480"/>
            <a:ext cx="914400" cy="914400"/>
          </a:xfrm>
          <a:prstGeom prst="ellipse">
            <a:avLst/>
          </a:prstGeom>
          <a:solidFill>
            <a:srgbClr val="0E8C8C"/>
          </a:solidFill>
          <a:ln>
            <a:noFill/>
          </a:ln>
        </p:spPr>
        <p:txBody>
          <a:bodyPr rtlCol="0" anchor="ctr"/>
          <a:lstStyle/>
          <a:p>
            <a:pPr algn="ctr"/>
          </a:p>
        </p:txBody>
      </p:sp>
      <p:pic>
        <p:nvPicPr>
          <p:cNvPr id="147" name="Picture 146" descr="FaBrain.png"/>
          <p:cNvPicPr>
            <a:picLocks noChangeAspect="1"/>
          </p:cNvPicPr>
          <p:nvPr/>
        </p:nvPicPr>
        <p:blipFill>
          <a:blip r:embed="rId7"/>
          <a:stretch>
            <a:fillRect/>
          </a:stretch>
        </p:blipFill>
        <p:spPr>
          <a:xfrm>
            <a:off x="12582144" y="2926080"/>
            <a:ext cx="457200" cy="457200"/>
          </a:xfrm>
          <a:prstGeom prst="rect">
            <a:avLst/>
          </a:prstGeom>
        </p:spPr>
      </p:pic>
      <p:sp>
        <p:nvSpPr>
          <p:cNvPr id="148" name="TextBox 147"/>
          <p:cNvSpPr txBox="1"/>
          <p:nvPr/>
        </p:nvSpPr>
        <p:spPr>
          <a:xfrm>
            <a:off x="13496544" y="2697480"/>
            <a:ext cx="3566160" cy="914400"/>
          </a:xfrm>
          <a:prstGeom prst="rect">
            <a:avLst/>
          </a:prstGeom>
          <a:noFill/>
        </p:spPr>
        <p:txBody>
          <a:bodyPr wrap="square" lIns="0" rIns="0" tIns="0" bIns="0" anchor="ctr">
            <a:spAutoFit/>
          </a:bodyPr>
          <a:lstStyle/>
          <a:p>
            <a:pPr algn="l">
              <a:spcAft>
                <a:spcPts val="0"/>
              </a:spcAft>
            </a:pPr>
            <a:r>
              <a:rPr sz="2800" b="1" i="0">
                <a:solidFill>
                  <a:srgbClr val="0F2A44"/>
                </a:solidFill>
                <a:latin typeface="Cambria"/>
              </a:rPr>
              <a:t>AI layer</a:t>
            </a:r>
          </a:p>
        </p:txBody>
      </p:sp>
      <p:sp>
        <p:nvSpPr>
          <p:cNvPr id="149" name="TextBox 148"/>
          <p:cNvSpPr txBox="1"/>
          <p:nvPr/>
        </p:nvSpPr>
        <p:spPr>
          <a:xfrm>
            <a:off x="12353544" y="3840480"/>
            <a:ext cx="4572000" cy="1737360"/>
          </a:xfrm>
          <a:prstGeom prst="rect">
            <a:avLst/>
          </a:prstGeom>
          <a:noFill/>
        </p:spPr>
        <p:txBody>
          <a:bodyPr wrap="square" lIns="0" rIns="0" tIns="0" bIns="0" anchor="t">
            <a:spAutoFit/>
          </a:bodyPr>
          <a:lstStyle/>
          <a:p>
            <a:pPr algn="l">
              <a:spcAft>
                <a:spcPts val="0"/>
              </a:spcAft>
            </a:pPr>
            <a:r>
              <a:rPr sz="2100" b="0" i="0">
                <a:solidFill>
                  <a:srgbClr val="4B6578"/>
                </a:solidFill>
                <a:latin typeface="Calibri"/>
              </a:rPr>
              <a:t>Planned: an LLM in the n8n AI Agent node rewords the Fairness Report and reads free-text reports. It never sets the numbers.</a:t>
            </a:r>
          </a:p>
        </p:txBody>
      </p:sp>
      <p:sp>
        <p:nvSpPr>
          <p:cNvPr id="150" name="Rounded Rectangle 149"/>
          <p:cNvSpPr/>
          <p:nvPr/>
        </p:nvSpPr>
        <p:spPr>
          <a:xfrm>
            <a:off x="1024128" y="5943600"/>
            <a:ext cx="5230368" cy="32918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51" name="Oval 150"/>
          <p:cNvSpPr/>
          <p:nvPr/>
        </p:nvSpPr>
        <p:spPr>
          <a:xfrm>
            <a:off x="1344168" y="6263640"/>
            <a:ext cx="914400" cy="914400"/>
          </a:xfrm>
          <a:prstGeom prst="ellipse">
            <a:avLst/>
          </a:prstGeom>
          <a:solidFill>
            <a:srgbClr val="0E8C8C"/>
          </a:solidFill>
          <a:ln>
            <a:noFill/>
          </a:ln>
        </p:spPr>
        <p:txBody>
          <a:bodyPr rtlCol="0" anchor="ctr"/>
          <a:lstStyle/>
          <a:p>
            <a:pPr algn="ctr"/>
          </a:p>
        </p:txBody>
      </p:sp>
      <p:pic>
        <p:nvPicPr>
          <p:cNvPr id="152" name="Picture 151" descr="FaDatabase.png"/>
          <p:cNvPicPr>
            <a:picLocks noChangeAspect="1"/>
          </p:cNvPicPr>
          <p:nvPr/>
        </p:nvPicPr>
        <p:blipFill>
          <a:blip r:embed="rId8"/>
          <a:stretch>
            <a:fillRect/>
          </a:stretch>
        </p:blipFill>
        <p:spPr>
          <a:xfrm>
            <a:off x="1572768" y="6492240"/>
            <a:ext cx="457200" cy="457200"/>
          </a:xfrm>
          <a:prstGeom prst="rect">
            <a:avLst/>
          </a:prstGeom>
        </p:spPr>
      </p:pic>
      <p:sp>
        <p:nvSpPr>
          <p:cNvPr id="153" name="TextBox 152"/>
          <p:cNvSpPr txBox="1"/>
          <p:nvPr/>
        </p:nvSpPr>
        <p:spPr>
          <a:xfrm>
            <a:off x="2487168" y="6263640"/>
            <a:ext cx="3566160" cy="914400"/>
          </a:xfrm>
          <a:prstGeom prst="rect">
            <a:avLst/>
          </a:prstGeom>
          <a:noFill/>
        </p:spPr>
        <p:txBody>
          <a:bodyPr wrap="square" lIns="0" rIns="0" tIns="0" bIns="0" anchor="ctr">
            <a:spAutoFit/>
          </a:bodyPr>
          <a:lstStyle/>
          <a:p>
            <a:pPr algn="l">
              <a:spcAft>
                <a:spcPts val="0"/>
              </a:spcAft>
            </a:pPr>
            <a:r>
              <a:rPr sz="2800" b="1" i="0">
                <a:solidFill>
                  <a:srgbClr val="0F2A44"/>
                </a:solidFill>
                <a:latin typeface="Cambria"/>
              </a:rPr>
              <a:t>Data layer</a:t>
            </a:r>
          </a:p>
        </p:txBody>
      </p:sp>
      <p:sp>
        <p:nvSpPr>
          <p:cNvPr id="154" name="TextBox 153"/>
          <p:cNvSpPr txBox="1"/>
          <p:nvPr/>
        </p:nvSpPr>
        <p:spPr>
          <a:xfrm>
            <a:off x="1344168" y="7406640"/>
            <a:ext cx="4572000" cy="1737360"/>
          </a:xfrm>
          <a:prstGeom prst="rect">
            <a:avLst/>
          </a:prstGeom>
          <a:noFill/>
        </p:spPr>
        <p:txBody>
          <a:bodyPr wrap="square" lIns="0" rIns="0" tIns="0" bIns="0" anchor="t">
            <a:spAutoFit/>
          </a:bodyPr>
          <a:lstStyle/>
          <a:p>
            <a:pPr algn="l">
              <a:spcAft>
                <a:spcPts val="0"/>
              </a:spcAft>
            </a:pPr>
            <a:r>
              <a:rPr sz="2100" b="0" i="0">
                <a:solidFill>
                  <a:srgbClr val="4B6578"/>
                </a:solidFill>
                <a:latin typeface="Calibri"/>
              </a:rPr>
              <a:t>Prototype: synthetic data inside the workflow. Planned: Google Sheets for wards, warehouses, roads and ledger.</a:t>
            </a:r>
          </a:p>
        </p:txBody>
      </p:sp>
      <p:sp>
        <p:nvSpPr>
          <p:cNvPr id="155" name="Rounded Rectangle 154"/>
          <p:cNvSpPr/>
          <p:nvPr/>
        </p:nvSpPr>
        <p:spPr>
          <a:xfrm>
            <a:off x="6528816" y="5943600"/>
            <a:ext cx="5230368" cy="32918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56" name="Oval 155"/>
          <p:cNvSpPr/>
          <p:nvPr/>
        </p:nvSpPr>
        <p:spPr>
          <a:xfrm>
            <a:off x="6848855" y="6263640"/>
            <a:ext cx="914400" cy="914400"/>
          </a:xfrm>
          <a:prstGeom prst="ellipse">
            <a:avLst/>
          </a:prstGeom>
          <a:solidFill>
            <a:srgbClr val="0E8C8C"/>
          </a:solidFill>
          <a:ln>
            <a:noFill/>
          </a:ln>
        </p:spPr>
        <p:txBody>
          <a:bodyPr rtlCol="0" anchor="ctr"/>
          <a:lstStyle/>
          <a:p>
            <a:pPr algn="ctr"/>
          </a:p>
        </p:txBody>
      </p:sp>
      <p:pic>
        <p:nvPicPr>
          <p:cNvPr id="157" name="Picture 156" descr="FaTelegramPlane.png"/>
          <p:cNvPicPr>
            <a:picLocks noChangeAspect="1"/>
          </p:cNvPicPr>
          <p:nvPr/>
        </p:nvPicPr>
        <p:blipFill>
          <a:blip r:embed="rId9"/>
          <a:stretch>
            <a:fillRect/>
          </a:stretch>
        </p:blipFill>
        <p:spPr>
          <a:xfrm>
            <a:off x="7077455" y="6492240"/>
            <a:ext cx="457200" cy="457200"/>
          </a:xfrm>
          <a:prstGeom prst="rect">
            <a:avLst/>
          </a:prstGeom>
        </p:spPr>
      </p:pic>
      <p:sp>
        <p:nvSpPr>
          <p:cNvPr id="158" name="TextBox 157"/>
          <p:cNvSpPr txBox="1"/>
          <p:nvPr/>
        </p:nvSpPr>
        <p:spPr>
          <a:xfrm>
            <a:off x="7991856" y="6263640"/>
            <a:ext cx="3566160" cy="914400"/>
          </a:xfrm>
          <a:prstGeom prst="rect">
            <a:avLst/>
          </a:prstGeom>
          <a:noFill/>
        </p:spPr>
        <p:txBody>
          <a:bodyPr wrap="square" lIns="0" rIns="0" tIns="0" bIns="0" anchor="ctr">
            <a:spAutoFit/>
          </a:bodyPr>
          <a:lstStyle/>
          <a:p>
            <a:pPr algn="l">
              <a:spcAft>
                <a:spcPts val="0"/>
              </a:spcAft>
            </a:pPr>
            <a:r>
              <a:rPr sz="2800" b="1" i="0">
                <a:solidFill>
                  <a:srgbClr val="0F2A44"/>
                </a:solidFill>
                <a:latin typeface="Cambria"/>
              </a:rPr>
              <a:t>Interface</a:t>
            </a:r>
          </a:p>
        </p:txBody>
      </p:sp>
      <p:sp>
        <p:nvSpPr>
          <p:cNvPr id="159" name="TextBox 158"/>
          <p:cNvSpPr txBox="1"/>
          <p:nvPr/>
        </p:nvSpPr>
        <p:spPr>
          <a:xfrm>
            <a:off x="6848855" y="7406640"/>
            <a:ext cx="4572000" cy="1737360"/>
          </a:xfrm>
          <a:prstGeom prst="rect">
            <a:avLst/>
          </a:prstGeom>
          <a:noFill/>
        </p:spPr>
        <p:txBody>
          <a:bodyPr wrap="square" lIns="0" rIns="0" tIns="0" bIns="0" anchor="t">
            <a:spAutoFit/>
          </a:bodyPr>
          <a:lstStyle/>
          <a:p>
            <a:pPr algn="l">
              <a:spcAft>
                <a:spcPts val="0"/>
              </a:spcAft>
            </a:pPr>
            <a:r>
              <a:rPr sz="2100" b="0" i="0">
                <a:solidFill>
                  <a:srgbClr val="4B6578"/>
                </a:solidFill>
                <a:latin typeface="Calibri"/>
              </a:rPr>
              <a:t>Planned: Telegram bot sends the approval card with Approve Plan A, Approve Plan B and Edit buttons.</a:t>
            </a:r>
          </a:p>
        </p:txBody>
      </p:sp>
      <p:sp>
        <p:nvSpPr>
          <p:cNvPr id="160" name="Rounded Rectangle 159"/>
          <p:cNvSpPr/>
          <p:nvPr/>
        </p:nvSpPr>
        <p:spPr>
          <a:xfrm>
            <a:off x="12033504" y="5943600"/>
            <a:ext cx="5230368" cy="32918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61" name="Oval 160"/>
          <p:cNvSpPr/>
          <p:nvPr/>
        </p:nvSpPr>
        <p:spPr>
          <a:xfrm>
            <a:off x="12353544" y="6263640"/>
            <a:ext cx="914400" cy="914400"/>
          </a:xfrm>
          <a:prstGeom prst="ellipse">
            <a:avLst/>
          </a:prstGeom>
          <a:solidFill>
            <a:srgbClr val="0E8C8C"/>
          </a:solidFill>
          <a:ln>
            <a:noFill/>
          </a:ln>
        </p:spPr>
        <p:txBody>
          <a:bodyPr rtlCol="0" anchor="ctr"/>
          <a:lstStyle/>
          <a:p>
            <a:pPr algn="ctr"/>
          </a:p>
        </p:txBody>
      </p:sp>
      <p:pic>
        <p:nvPicPr>
          <p:cNvPr id="162" name="Picture 161" descr="FaShieldAlt.png"/>
          <p:cNvPicPr>
            <a:picLocks noChangeAspect="1"/>
          </p:cNvPicPr>
          <p:nvPr/>
        </p:nvPicPr>
        <p:blipFill>
          <a:blip r:embed="rId10"/>
          <a:stretch>
            <a:fillRect/>
          </a:stretch>
        </p:blipFill>
        <p:spPr>
          <a:xfrm>
            <a:off x="12582144" y="6492240"/>
            <a:ext cx="457200" cy="457200"/>
          </a:xfrm>
          <a:prstGeom prst="rect">
            <a:avLst/>
          </a:prstGeom>
        </p:spPr>
      </p:pic>
      <p:sp>
        <p:nvSpPr>
          <p:cNvPr id="163" name="TextBox 162"/>
          <p:cNvSpPr txBox="1"/>
          <p:nvPr/>
        </p:nvSpPr>
        <p:spPr>
          <a:xfrm>
            <a:off x="13496544" y="6263640"/>
            <a:ext cx="3566160" cy="914400"/>
          </a:xfrm>
          <a:prstGeom prst="rect">
            <a:avLst/>
          </a:prstGeom>
          <a:noFill/>
        </p:spPr>
        <p:txBody>
          <a:bodyPr wrap="square" lIns="0" rIns="0" tIns="0" bIns="0" anchor="ctr">
            <a:spAutoFit/>
          </a:bodyPr>
          <a:lstStyle/>
          <a:p>
            <a:pPr algn="l">
              <a:spcAft>
                <a:spcPts val="0"/>
              </a:spcAft>
            </a:pPr>
            <a:r>
              <a:rPr sz="2800" b="1" i="0">
                <a:solidFill>
                  <a:srgbClr val="0F2A44"/>
                </a:solidFill>
                <a:latin typeface="Cambria"/>
              </a:rPr>
              <a:t>Reliability</a:t>
            </a:r>
          </a:p>
        </p:txBody>
      </p:sp>
      <p:sp>
        <p:nvSpPr>
          <p:cNvPr id="164" name="TextBox 163"/>
          <p:cNvSpPr txBox="1"/>
          <p:nvPr/>
        </p:nvSpPr>
        <p:spPr>
          <a:xfrm>
            <a:off x="12353544" y="7406640"/>
            <a:ext cx="4572000" cy="1737360"/>
          </a:xfrm>
          <a:prstGeom prst="rect">
            <a:avLst/>
          </a:prstGeom>
          <a:noFill/>
        </p:spPr>
        <p:txBody>
          <a:bodyPr wrap="square" lIns="0" rIns="0" tIns="0" bIns="0" anchor="t">
            <a:spAutoFit/>
          </a:bodyPr>
          <a:lstStyle/>
          <a:p>
            <a:pPr algn="l">
              <a:spcAft>
                <a:spcPts val="0"/>
              </a:spcAft>
            </a:pPr>
            <a:r>
              <a:rPr sz="2100" b="0" i="0">
                <a:solidFill>
                  <a:srgbClr val="4B6578"/>
                </a:solidFill>
                <a:latin typeface="Calibri"/>
              </a:rPr>
              <a:t>Built: rule version and audit fields in every output. Planned: replay view and an error workflow with retries.</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427" l="-7180" r="-3000" t="-19076"/>
            </a:stretch>
          </a:blipFill>
          <a:ln>
            <a:noFill/>
          </a:ln>
        </p:spPr>
        <p:txBody>
          <a:bodyPr/>
          <a:p/>
        </p:txBody>
      </p:sp>
      <p:sp>
        <p:nvSpPr>
          <p:cNvPr id="140" name="Google Shape;140;p4"/>
          <p:cNvSpPr/>
          <p:nvPr/>
        </p:nvSpPr>
        <p:spPr>
          <a:xfrm>
            <a:off x="5317038" y="-4518398"/>
            <a:ext cx="22188662" cy="18920878"/>
          </a:xfrm>
          <a:custGeom>
            <a:rect b="b" l="l" r="r" t="t"/>
            <a:pathLst>
              <a:path extrusionOk="0" h="18920878" w="22188662">
                <a:moveTo>
                  <a:pt x="0" y="0"/>
                </a:moveTo>
                <a:lnTo>
                  <a:pt x="22188663" y="0"/>
                </a:lnTo>
                <a:lnTo>
                  <a:pt x="22188663" y="18920878"/>
                </a:lnTo>
                <a:lnTo>
                  <a:pt x="0" y="18920878"/>
                </a:lnTo>
                <a:lnTo>
                  <a:pt x="0" y="0"/>
                </a:lnTo>
                <a:close/>
              </a:path>
            </a:pathLst>
          </a:custGeom>
          <a:blipFill rotWithShape="1">
            <a:blip r:embed="rId4">
              <a:alphaModFix/>
            </a:blip>
            <a:stretch>
              <a:fillRect b="0" l="0" r="0" t="0"/>
            </a:stretch>
          </a:blipFill>
          <a:ln>
            <a:noFill/>
          </a:ln>
        </p:spPr>
        <p:txBody>
          <a:bodyPr/>
          <a:p/>
        </p:txBody>
      </p:sp>
      <p:sp>
        <p:nvSpPr>
          <p:cNvPr id="134" name="Google Shape;134;p3"/>
          <p:cNvSpPr txBox="1"/>
          <p:nvPr/>
        </p:nvSpPr>
        <p:spPr>
          <a:xfrm>
            <a:off x="1028700" y="838200"/>
            <a:ext cx="16002000" cy="1704975"/>
          </a:xfrm>
          <a:prstGeom prst="rect">
            <a:avLst/>
          </a:prstGeom>
          <a:noFill/>
          <a:ln>
            <a:noFill/>
          </a:ln>
        </p:spPr>
        <p:txBody>
          <a:bodyPr anchorCtr="0" anchor="t" bIns="0" lIns="0" spcFirstLastPara="1" rIns="0" wrap="square" tIns="0">
            <a:spAutoFit/>
          </a:bodyPr>
          <a:lstStyle/>
          <a:p>
            <a:pPr indent="0" lvl="0" marL="0" marR="0" rtl="0" algn="l">
              <a:lnSpc>
                <a:spcPct val="119993"/>
              </a:lnSpc>
              <a:spcBef>
                <a:spcPts val="0"/>
              </a:spcBef>
              <a:spcAft>
                <a:spcPts val="0"/>
              </a:spcAft>
              <a:buNone/>
            </a:pPr>
            <a:r>
              <a:rPr b="0" i="0" lang="en-US" sz="6600" u="none" cap="none" strike="noStrike">
                <a:solidFill>
                  <a:srgbClr val="5DE0E6"/>
                </a:solidFill>
                <a:latin typeface="Times"/>
                <a:ea typeface="Times"/>
                <a:cs typeface="Times"/>
                <a:sym typeface="Times"/>
              </a:rPr>
              <a:t>System Architecture</a:t>
            </a:r>
            <a:endParaRPr/>
          </a:p>
        </p:txBody>
      </p:sp>
      <p:sp>
        <p:nvSpPr>
          <p:cNvPr id="141" name="Rounded Rectangle 140"/>
          <p:cNvSpPr/>
          <p:nvPr/>
        </p:nvSpPr>
        <p:spPr>
          <a:xfrm>
            <a:off x="1024128" y="2377440"/>
            <a:ext cx="3200400" cy="1508760"/>
          </a:xfrm>
          <a:prstGeom prst="roundRect">
            <a:avLst>
              <a:gd name="adj" fmla="val 6000"/>
            </a:avLst>
          </a:prstGeom>
          <a:solidFill>
            <a:srgbClr val="0F2A44"/>
          </a:solidFill>
          <a:ln>
            <a:noFill/>
          </a:ln>
        </p:spPr>
        <p:txBody>
          <a:bodyPr rtlCol="0" anchor="ctr"/>
          <a:lstStyle/>
          <a:p>
            <a:pPr algn="ctr"/>
          </a:p>
        </p:txBody>
      </p:sp>
      <p:sp>
        <p:nvSpPr>
          <p:cNvPr id="142" name="TextBox 141"/>
          <p:cNvSpPr txBox="1"/>
          <p:nvPr/>
        </p:nvSpPr>
        <p:spPr>
          <a:xfrm>
            <a:off x="1234440" y="2377440"/>
            <a:ext cx="2834640" cy="1508760"/>
          </a:xfrm>
          <a:prstGeom prst="rect">
            <a:avLst/>
          </a:prstGeom>
          <a:noFill/>
        </p:spPr>
        <p:txBody>
          <a:bodyPr wrap="square" lIns="0" rIns="0" tIns="0" bIns="0" anchor="ctr">
            <a:spAutoFit/>
          </a:bodyPr>
          <a:lstStyle/>
          <a:p>
            <a:pPr algn="l">
              <a:spcAft>
                <a:spcPts val="0"/>
              </a:spcAft>
            </a:pPr>
            <a:r>
              <a:rPr sz="2400" b="1" i="0">
                <a:solidFill>
                  <a:srgbClr val="FFFFFF"/>
                </a:solidFill>
                <a:latin typeface="Cambria"/>
              </a:rPr>
              <a:t>1  Data layer</a:t>
            </a:r>
          </a:p>
        </p:txBody>
      </p:sp>
      <p:sp>
        <p:nvSpPr>
          <p:cNvPr id="143" name="Rounded Rectangle 142"/>
          <p:cNvSpPr/>
          <p:nvPr/>
        </p:nvSpPr>
        <p:spPr>
          <a:xfrm>
            <a:off x="4434840" y="2377440"/>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44" name="TextBox 143"/>
          <p:cNvSpPr txBox="1"/>
          <p:nvPr/>
        </p:nvSpPr>
        <p:spPr>
          <a:xfrm>
            <a:off x="4617720" y="2377440"/>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Ward and shelter stock</a:t>
            </a:r>
          </a:p>
        </p:txBody>
      </p:sp>
      <p:sp>
        <p:nvSpPr>
          <p:cNvPr id="145" name="Rounded Rectangle 144"/>
          <p:cNvSpPr/>
          <p:nvPr/>
        </p:nvSpPr>
        <p:spPr>
          <a:xfrm>
            <a:off x="7635240" y="2377440"/>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46" name="TextBox 145"/>
          <p:cNvSpPr txBox="1"/>
          <p:nvPr/>
        </p:nvSpPr>
        <p:spPr>
          <a:xfrm>
            <a:off x="7818119" y="2377440"/>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Warehouse stock</a:t>
            </a:r>
          </a:p>
        </p:txBody>
      </p:sp>
      <p:sp>
        <p:nvSpPr>
          <p:cNvPr id="147" name="Rounded Rectangle 146"/>
          <p:cNvSpPr/>
          <p:nvPr/>
        </p:nvSpPr>
        <p:spPr>
          <a:xfrm>
            <a:off x="10835640" y="2377440"/>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48" name="TextBox 147"/>
          <p:cNvSpPr txBox="1"/>
          <p:nvPr/>
        </p:nvSpPr>
        <p:spPr>
          <a:xfrm>
            <a:off x="11018519" y="2377440"/>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Road and transport status</a:t>
            </a:r>
          </a:p>
        </p:txBody>
      </p:sp>
      <p:sp>
        <p:nvSpPr>
          <p:cNvPr id="149" name="Rounded Rectangle 148"/>
          <p:cNvSpPr/>
          <p:nvPr/>
        </p:nvSpPr>
        <p:spPr>
          <a:xfrm>
            <a:off x="14036040" y="2377440"/>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50" name="TextBox 149"/>
          <p:cNvSpPr txBox="1"/>
          <p:nvPr/>
        </p:nvSpPr>
        <p:spPr>
          <a:xfrm>
            <a:off x="14218919" y="2377440"/>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Vulnerability reports</a:t>
            </a:r>
          </a:p>
        </p:txBody>
      </p:sp>
      <p:sp>
        <p:nvSpPr>
          <p:cNvPr id="151" name="Rounded Rectangle 150"/>
          <p:cNvSpPr/>
          <p:nvPr/>
        </p:nvSpPr>
        <p:spPr>
          <a:xfrm>
            <a:off x="1024128" y="4050791"/>
            <a:ext cx="3200400" cy="1508760"/>
          </a:xfrm>
          <a:prstGeom prst="roundRect">
            <a:avLst>
              <a:gd name="adj" fmla="val 6000"/>
            </a:avLst>
          </a:prstGeom>
          <a:solidFill>
            <a:srgbClr val="0F2A44"/>
          </a:solidFill>
          <a:ln>
            <a:noFill/>
          </a:ln>
        </p:spPr>
        <p:txBody>
          <a:bodyPr rtlCol="0" anchor="ctr"/>
          <a:lstStyle/>
          <a:p>
            <a:pPr algn="ctr"/>
          </a:p>
        </p:txBody>
      </p:sp>
      <p:sp>
        <p:nvSpPr>
          <p:cNvPr id="152" name="TextBox 151"/>
          <p:cNvSpPr txBox="1"/>
          <p:nvPr/>
        </p:nvSpPr>
        <p:spPr>
          <a:xfrm>
            <a:off x="1234440" y="4050791"/>
            <a:ext cx="2834640" cy="1508760"/>
          </a:xfrm>
          <a:prstGeom prst="rect">
            <a:avLst/>
          </a:prstGeom>
          <a:noFill/>
        </p:spPr>
        <p:txBody>
          <a:bodyPr wrap="square" lIns="0" rIns="0" tIns="0" bIns="0" anchor="ctr">
            <a:spAutoFit/>
          </a:bodyPr>
          <a:lstStyle/>
          <a:p>
            <a:pPr algn="l">
              <a:spcAft>
                <a:spcPts val="0"/>
              </a:spcAft>
            </a:pPr>
            <a:r>
              <a:rPr sz="2400" b="1" i="0">
                <a:solidFill>
                  <a:srgbClr val="FFFFFF"/>
                </a:solidFill>
                <a:latin typeface="Cambria"/>
              </a:rPr>
              <a:t>2  Orchestration (n8n)</a:t>
            </a:r>
          </a:p>
        </p:txBody>
      </p:sp>
      <p:sp>
        <p:nvSpPr>
          <p:cNvPr id="153" name="Rounded Rectangle 152"/>
          <p:cNvSpPr/>
          <p:nvPr/>
        </p:nvSpPr>
        <p:spPr>
          <a:xfrm>
            <a:off x="4434840" y="4050791"/>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54" name="TextBox 153"/>
          <p:cNvSpPr txBox="1"/>
          <p:nvPr/>
        </p:nvSpPr>
        <p:spPr>
          <a:xfrm>
            <a:off x="4617720" y="4050791"/>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Schedule trigger per cycle</a:t>
            </a:r>
          </a:p>
        </p:txBody>
      </p:sp>
      <p:sp>
        <p:nvSpPr>
          <p:cNvPr id="155" name="Rounded Rectangle 154"/>
          <p:cNvSpPr/>
          <p:nvPr/>
        </p:nvSpPr>
        <p:spPr>
          <a:xfrm>
            <a:off x="7635240" y="4050791"/>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56" name="TextBox 155"/>
          <p:cNvSpPr txBox="1"/>
          <p:nvPr/>
        </p:nvSpPr>
        <p:spPr>
          <a:xfrm>
            <a:off x="7818119" y="4050791"/>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Validate and clean data</a:t>
            </a:r>
          </a:p>
        </p:txBody>
      </p:sp>
      <p:sp>
        <p:nvSpPr>
          <p:cNvPr id="157" name="Rounded Rectangle 156"/>
          <p:cNvSpPr/>
          <p:nvPr/>
        </p:nvSpPr>
        <p:spPr>
          <a:xfrm>
            <a:off x="10835640" y="4050791"/>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58" name="TextBox 157"/>
          <p:cNvSpPr txBox="1"/>
          <p:nvPr/>
        </p:nvSpPr>
        <p:spPr>
          <a:xfrm>
            <a:off x="11018519" y="4050791"/>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Sub-workflow per stage</a:t>
            </a:r>
          </a:p>
        </p:txBody>
      </p:sp>
      <p:sp>
        <p:nvSpPr>
          <p:cNvPr id="159" name="Rounded Rectangle 158"/>
          <p:cNvSpPr/>
          <p:nvPr/>
        </p:nvSpPr>
        <p:spPr>
          <a:xfrm>
            <a:off x="14036040" y="4050791"/>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60" name="TextBox 159"/>
          <p:cNvSpPr txBox="1"/>
          <p:nvPr/>
        </p:nvSpPr>
        <p:spPr>
          <a:xfrm>
            <a:off x="14218919" y="4050791"/>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Error and retry workflow</a:t>
            </a:r>
          </a:p>
        </p:txBody>
      </p:sp>
      <p:sp>
        <p:nvSpPr>
          <p:cNvPr id="161" name="Rounded Rectangle 160"/>
          <p:cNvSpPr/>
          <p:nvPr/>
        </p:nvSpPr>
        <p:spPr>
          <a:xfrm>
            <a:off x="1024128" y="5724144"/>
            <a:ext cx="3200400" cy="1508760"/>
          </a:xfrm>
          <a:prstGeom prst="roundRect">
            <a:avLst>
              <a:gd name="adj" fmla="val 6000"/>
            </a:avLst>
          </a:prstGeom>
          <a:solidFill>
            <a:srgbClr val="0F2A44"/>
          </a:solidFill>
          <a:ln>
            <a:noFill/>
          </a:ln>
        </p:spPr>
        <p:txBody>
          <a:bodyPr rtlCol="0" anchor="ctr"/>
          <a:lstStyle/>
          <a:p>
            <a:pPr algn="ctr"/>
          </a:p>
        </p:txBody>
      </p:sp>
      <p:sp>
        <p:nvSpPr>
          <p:cNvPr id="162" name="TextBox 161"/>
          <p:cNvSpPr txBox="1"/>
          <p:nvPr/>
        </p:nvSpPr>
        <p:spPr>
          <a:xfrm>
            <a:off x="1234440" y="5724144"/>
            <a:ext cx="2834640" cy="1508760"/>
          </a:xfrm>
          <a:prstGeom prst="rect">
            <a:avLst/>
          </a:prstGeom>
          <a:noFill/>
        </p:spPr>
        <p:txBody>
          <a:bodyPr wrap="square" lIns="0" rIns="0" tIns="0" bIns="0" anchor="ctr">
            <a:spAutoFit/>
          </a:bodyPr>
          <a:lstStyle/>
          <a:p>
            <a:pPr algn="l">
              <a:spcAft>
                <a:spcPts val="0"/>
              </a:spcAft>
            </a:pPr>
            <a:r>
              <a:rPr sz="2400" b="1" i="0">
                <a:solidFill>
                  <a:srgbClr val="FFFFFF"/>
                </a:solidFill>
                <a:latin typeface="Cambria"/>
              </a:rPr>
              <a:t>3  Intelligence</a:t>
            </a:r>
          </a:p>
        </p:txBody>
      </p:sp>
      <p:sp>
        <p:nvSpPr>
          <p:cNvPr id="163" name="Rounded Rectangle 162"/>
          <p:cNvSpPr/>
          <p:nvPr/>
        </p:nvSpPr>
        <p:spPr>
          <a:xfrm>
            <a:off x="4434840" y="5724144"/>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64" name="TextBox 163"/>
          <p:cNvSpPr txBox="1"/>
          <p:nvPr/>
        </p:nvSpPr>
        <p:spPr>
          <a:xfrm>
            <a:off x="4617720" y="5724144"/>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Need score and road access</a:t>
            </a:r>
          </a:p>
        </p:txBody>
      </p:sp>
      <p:sp>
        <p:nvSpPr>
          <p:cNvPr id="165" name="Rounded Rectangle 164"/>
          <p:cNvSpPr/>
          <p:nvPr/>
        </p:nvSpPr>
        <p:spPr>
          <a:xfrm>
            <a:off x="7635240" y="5724144"/>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66" name="TextBox 165"/>
          <p:cNvSpPr txBox="1"/>
          <p:nvPr/>
        </p:nvSpPr>
        <p:spPr>
          <a:xfrm>
            <a:off x="7818119" y="5724144"/>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Fairness debt from ledger</a:t>
            </a:r>
          </a:p>
        </p:txBody>
      </p:sp>
      <p:sp>
        <p:nvSpPr>
          <p:cNvPr id="167" name="Rounded Rectangle 166"/>
          <p:cNvSpPr/>
          <p:nvPr/>
        </p:nvSpPr>
        <p:spPr>
          <a:xfrm>
            <a:off x="10835640" y="5724144"/>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68" name="TextBox 167"/>
          <p:cNvSpPr txBox="1"/>
          <p:nvPr/>
        </p:nvSpPr>
        <p:spPr>
          <a:xfrm>
            <a:off x="11018519" y="5724144"/>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Plan A need-based vs Plan B minimum-coverage</a:t>
            </a:r>
          </a:p>
        </p:txBody>
      </p:sp>
      <p:sp>
        <p:nvSpPr>
          <p:cNvPr id="169" name="Rounded Rectangle 168"/>
          <p:cNvSpPr/>
          <p:nvPr/>
        </p:nvSpPr>
        <p:spPr>
          <a:xfrm>
            <a:off x="14036040" y="5724144"/>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70" name="TextBox 169"/>
          <p:cNvSpPr txBox="1"/>
          <p:nvPr/>
        </p:nvSpPr>
        <p:spPr>
          <a:xfrm>
            <a:off x="14218919" y="5724144"/>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LLM: report parsing and Fairness Report</a:t>
            </a:r>
          </a:p>
        </p:txBody>
      </p:sp>
      <p:sp>
        <p:nvSpPr>
          <p:cNvPr id="171" name="Rounded Rectangle 170"/>
          <p:cNvSpPr/>
          <p:nvPr/>
        </p:nvSpPr>
        <p:spPr>
          <a:xfrm>
            <a:off x="1024128" y="7397496"/>
            <a:ext cx="3200400" cy="1508760"/>
          </a:xfrm>
          <a:prstGeom prst="roundRect">
            <a:avLst>
              <a:gd name="adj" fmla="val 6000"/>
            </a:avLst>
          </a:prstGeom>
          <a:solidFill>
            <a:srgbClr val="0F2A44"/>
          </a:solidFill>
          <a:ln>
            <a:noFill/>
          </a:ln>
        </p:spPr>
        <p:txBody>
          <a:bodyPr rtlCol="0" anchor="ctr"/>
          <a:lstStyle/>
          <a:p>
            <a:pPr algn="ctr"/>
          </a:p>
        </p:txBody>
      </p:sp>
      <p:sp>
        <p:nvSpPr>
          <p:cNvPr id="172" name="TextBox 171"/>
          <p:cNvSpPr txBox="1"/>
          <p:nvPr/>
        </p:nvSpPr>
        <p:spPr>
          <a:xfrm>
            <a:off x="1234440" y="7397496"/>
            <a:ext cx="2834640" cy="1508760"/>
          </a:xfrm>
          <a:prstGeom prst="rect">
            <a:avLst/>
          </a:prstGeom>
          <a:noFill/>
        </p:spPr>
        <p:txBody>
          <a:bodyPr wrap="square" lIns="0" rIns="0" tIns="0" bIns="0" anchor="ctr">
            <a:spAutoFit/>
          </a:bodyPr>
          <a:lstStyle/>
          <a:p>
            <a:pPr algn="l">
              <a:spcAft>
                <a:spcPts val="0"/>
              </a:spcAft>
            </a:pPr>
            <a:r>
              <a:rPr sz="2400" b="1" i="0">
                <a:solidFill>
                  <a:srgbClr val="FFFFFF"/>
                </a:solidFill>
                <a:latin typeface="Cambria"/>
              </a:rPr>
              <a:t>4  Action and oversight</a:t>
            </a:r>
          </a:p>
        </p:txBody>
      </p:sp>
      <p:sp>
        <p:nvSpPr>
          <p:cNvPr id="173" name="Rounded Rectangle 172"/>
          <p:cNvSpPr/>
          <p:nvPr/>
        </p:nvSpPr>
        <p:spPr>
          <a:xfrm>
            <a:off x="4434840" y="7397496"/>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74" name="TextBox 173"/>
          <p:cNvSpPr txBox="1"/>
          <p:nvPr/>
        </p:nvSpPr>
        <p:spPr>
          <a:xfrm>
            <a:off x="4617720" y="7397496"/>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Telegram approval card</a:t>
            </a:r>
          </a:p>
        </p:txBody>
      </p:sp>
      <p:sp>
        <p:nvSpPr>
          <p:cNvPr id="175" name="Rounded Rectangle 174"/>
          <p:cNvSpPr/>
          <p:nvPr/>
        </p:nvSpPr>
        <p:spPr>
          <a:xfrm>
            <a:off x="7635240" y="7397496"/>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76" name="TextBox 175"/>
          <p:cNvSpPr txBox="1"/>
          <p:nvPr/>
        </p:nvSpPr>
        <p:spPr>
          <a:xfrm>
            <a:off x="7818119" y="7397496"/>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Dispatch order via webhook or sheet</a:t>
            </a:r>
          </a:p>
        </p:txBody>
      </p:sp>
      <p:sp>
        <p:nvSpPr>
          <p:cNvPr id="177" name="Rounded Rectangle 176"/>
          <p:cNvSpPr/>
          <p:nvPr/>
        </p:nvSpPr>
        <p:spPr>
          <a:xfrm>
            <a:off x="10835640" y="7397496"/>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78" name="TextBox 177"/>
          <p:cNvSpPr txBox="1"/>
          <p:nvPr/>
        </p:nvSpPr>
        <p:spPr>
          <a:xfrm>
            <a:off x="11018519" y="7397496"/>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Ledger and audit log update</a:t>
            </a:r>
          </a:p>
        </p:txBody>
      </p:sp>
      <p:sp>
        <p:nvSpPr>
          <p:cNvPr id="179" name="Rounded Rectangle 178"/>
          <p:cNvSpPr/>
          <p:nvPr/>
        </p:nvSpPr>
        <p:spPr>
          <a:xfrm>
            <a:off x="14036040" y="7397496"/>
            <a:ext cx="3044952" cy="150876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80" name="TextBox 179"/>
          <p:cNvSpPr txBox="1"/>
          <p:nvPr/>
        </p:nvSpPr>
        <p:spPr>
          <a:xfrm>
            <a:off x="14218919" y="7397496"/>
            <a:ext cx="2679192" cy="150876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Replay view</a:t>
            </a:r>
          </a:p>
        </p:txBody>
      </p:sp>
      <p:sp>
        <p:nvSpPr>
          <p:cNvPr id="181" name="Rounded Rectangle 180"/>
          <p:cNvSpPr/>
          <p:nvPr/>
        </p:nvSpPr>
        <p:spPr>
          <a:xfrm>
            <a:off x="1024128" y="9098280"/>
            <a:ext cx="16239744" cy="731520"/>
          </a:xfrm>
          <a:prstGeom prst="roundRect">
            <a:avLst>
              <a:gd name="adj" fmla="val 6000"/>
            </a:avLst>
          </a:prstGeom>
          <a:solidFill>
            <a:srgbClr val="E8F4F7"/>
          </a:solidFill>
          <a:ln w="19050">
            <a:solidFill>
              <a:srgbClr val="0E8C8C"/>
            </a:solidFill>
          </a:ln>
        </p:spPr>
        <p:txBody>
          <a:bodyPr rtlCol="0" anchor="ctr"/>
          <a:lstStyle/>
          <a:p>
            <a:pPr algn="ctr"/>
          </a:p>
        </p:txBody>
      </p:sp>
      <p:sp>
        <p:nvSpPr>
          <p:cNvPr id="182" name="TextBox 181"/>
          <p:cNvSpPr txBox="1"/>
          <p:nvPr/>
        </p:nvSpPr>
        <p:spPr>
          <a:xfrm>
            <a:off x="1280160" y="9098280"/>
            <a:ext cx="15727680" cy="731520"/>
          </a:xfrm>
          <a:prstGeom prst="rect">
            <a:avLst/>
          </a:prstGeom>
          <a:noFill/>
        </p:spPr>
        <p:txBody>
          <a:bodyPr wrap="square" lIns="0" rIns="0" tIns="0" bIns="0" anchor="ctr">
            <a:spAutoFit/>
          </a:bodyPr>
          <a:lstStyle/>
          <a:p>
            <a:pPr algn="l">
              <a:spcAft>
                <a:spcPts val="0"/>
              </a:spcAft>
            </a:pPr>
            <a:r>
              <a:rPr sz="2100" b="1" i="0">
                <a:solidFill>
                  <a:srgbClr val="0F2A44"/>
                </a:solidFill>
                <a:latin typeface="Calibri"/>
              </a:rPr>
              <a:t>Priority = </a:t>
            </a:r>
            <a:r>
              <a:rPr sz="2100" b="0" i="0">
                <a:solidFill>
                  <a:srgbClr val="0F2A44"/>
                </a:solidFill>
                <a:latin typeface="Calibri"/>
              </a:rPr>
              <a:t>need score × road access + λ × fairness debt − secondary-supply discount (weights are shown to the officer)</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427" l="-7180" r="-3000" t="-19076"/>
            </a:stretch>
          </a:blipFill>
          <a:ln>
            <a:noFill/>
          </a:ln>
        </p:spPr>
        <p:txBody>
          <a:bodyPr/>
          <a:p/>
        </p:txBody>
      </p:sp>
      <p:sp>
        <p:nvSpPr>
          <p:cNvPr id="146" name="Google Shape;146;p5"/>
          <p:cNvSpPr/>
          <p:nvPr/>
        </p:nvSpPr>
        <p:spPr>
          <a:xfrm>
            <a:off x="5317038" y="-4518398"/>
            <a:ext cx="22188662" cy="18920878"/>
          </a:xfrm>
          <a:custGeom>
            <a:rect b="b" l="l" r="r" t="t"/>
            <a:pathLst>
              <a:path extrusionOk="0" h="18920878" w="22188662">
                <a:moveTo>
                  <a:pt x="0" y="0"/>
                </a:moveTo>
                <a:lnTo>
                  <a:pt x="22188663" y="0"/>
                </a:lnTo>
                <a:lnTo>
                  <a:pt x="22188663" y="18920878"/>
                </a:lnTo>
                <a:lnTo>
                  <a:pt x="0" y="18920878"/>
                </a:lnTo>
                <a:lnTo>
                  <a:pt x="0" y="0"/>
                </a:lnTo>
                <a:close/>
              </a:path>
            </a:pathLst>
          </a:custGeom>
          <a:blipFill rotWithShape="1">
            <a:blip r:embed="rId4">
              <a:alphaModFix/>
            </a:blip>
            <a:stretch>
              <a:fillRect b="0" l="0" r="0" t="0"/>
            </a:stretch>
          </a:blipFill>
          <a:ln>
            <a:noFill/>
          </a:ln>
        </p:spPr>
        <p:txBody>
          <a:bodyPr/>
          <a:p/>
        </p:txBody>
      </p:sp>
      <p:sp>
        <p:nvSpPr>
          <p:cNvPr id="147" name="Google Shape;147;p5"/>
          <p:cNvSpPr txBox="1"/>
          <p:nvPr/>
        </p:nvSpPr>
        <p:spPr>
          <a:xfrm>
            <a:off x="1028700" y="838200"/>
            <a:ext cx="16002000" cy="1704975"/>
          </a:xfrm>
          <a:prstGeom prst="rect">
            <a:avLst/>
          </a:prstGeom>
          <a:noFill/>
          <a:ln>
            <a:noFill/>
          </a:ln>
        </p:spPr>
        <p:txBody>
          <a:bodyPr anchorCtr="0" anchor="t" bIns="0" lIns="0" spcFirstLastPara="1" rIns="0" wrap="square" tIns="0">
            <a:spAutoFit/>
          </a:bodyPr>
          <a:lstStyle/>
          <a:p>
            <a:pPr indent="0" lvl="0" marL="0" marR="0" rtl="0" algn="l">
              <a:lnSpc>
                <a:spcPct val="119993"/>
              </a:lnSpc>
              <a:spcBef>
                <a:spcPts val="0"/>
              </a:spcBef>
              <a:spcAft>
                <a:spcPts val="0"/>
              </a:spcAft>
              <a:buNone/>
            </a:pPr>
            <a:r>
              <a:rPr b="0" i="0" lang="en-US" sz="6600" u="none" cap="none" strike="noStrike">
                <a:solidFill>
                  <a:srgbClr val="5DE0E6"/>
                </a:solidFill>
                <a:latin typeface="Times"/>
                <a:ea typeface="Times"/>
                <a:cs typeface="Times"/>
                <a:sym typeface="Times"/>
              </a:rPr>
              <a:t>Data Flow Diagram</a:t>
            </a:r>
            <a:endParaRPr/>
          </a:p>
        </p:txBody>
      </p:sp>
      <p:sp>
        <p:nvSpPr>
          <p:cNvPr id="148" name="Rounded Rectangle 147"/>
          <p:cNvSpPr/>
          <p:nvPr/>
        </p:nvSpPr>
        <p:spPr>
          <a:xfrm>
            <a:off x="1024128" y="2743200"/>
            <a:ext cx="3291840" cy="1280160"/>
          </a:xfrm>
          <a:prstGeom prst="roundRect">
            <a:avLst>
              <a:gd name="adj" fmla="val 2000"/>
            </a:avLst>
          </a:prstGeom>
          <a:solidFill>
            <a:srgbClr val="FFFFFF"/>
          </a:solidFill>
          <a:ln w="19050">
            <a:solidFill>
              <a:srgbClr val="B9DAE4"/>
            </a:solidFill>
          </a:ln>
        </p:spPr>
        <p:txBody>
          <a:bodyPr rtlCol="0" anchor="ctr"/>
          <a:lstStyle/>
          <a:p>
            <a:pPr algn="ctr"/>
          </a:p>
        </p:txBody>
      </p:sp>
      <p:sp>
        <p:nvSpPr>
          <p:cNvPr id="149" name="TextBox 148"/>
          <p:cNvSpPr txBox="1"/>
          <p:nvPr/>
        </p:nvSpPr>
        <p:spPr>
          <a:xfrm>
            <a:off x="1143000" y="2743200"/>
            <a:ext cx="3054096" cy="1280160"/>
          </a:xfrm>
          <a:prstGeom prst="rect">
            <a:avLst/>
          </a:prstGeom>
          <a:noFill/>
        </p:spPr>
        <p:txBody>
          <a:bodyPr wrap="square" lIns="0" rIns="0" tIns="0" bIns="0" anchor="ctr">
            <a:spAutoFit/>
          </a:bodyPr>
          <a:lstStyle/>
          <a:p>
            <a:pPr algn="ctr">
              <a:spcAft>
                <a:spcPts val="0"/>
              </a:spcAft>
            </a:pPr>
            <a:r>
              <a:rPr sz="2300" b="1" i="0">
                <a:solidFill>
                  <a:srgbClr val="0F2A44"/>
                </a:solidFill>
                <a:latin typeface="Calibri"/>
              </a:rPr>
              <a:t>Wards and shelters</a:t>
            </a:r>
          </a:p>
          <a:p>
            <a:pPr algn="ctr">
              <a:spcAft>
                <a:spcPts val="0"/>
              </a:spcAft>
            </a:pPr>
            <a:r>
              <a:rPr sz="1900" b="0" i="0">
                <a:solidFill>
                  <a:srgbClr val="4B6578"/>
                </a:solidFill>
                <a:latin typeface="Calibri"/>
              </a:rPr>
              <a:t>stock, vulnerability reports</a:t>
            </a:r>
          </a:p>
        </p:txBody>
      </p:sp>
      <p:sp>
        <p:nvSpPr>
          <p:cNvPr id="150" name="Rounded Rectangle 149"/>
          <p:cNvSpPr/>
          <p:nvPr/>
        </p:nvSpPr>
        <p:spPr>
          <a:xfrm>
            <a:off x="1024128" y="4389120"/>
            <a:ext cx="3291840" cy="1280160"/>
          </a:xfrm>
          <a:prstGeom prst="roundRect">
            <a:avLst>
              <a:gd name="adj" fmla="val 2000"/>
            </a:avLst>
          </a:prstGeom>
          <a:solidFill>
            <a:srgbClr val="FFFFFF"/>
          </a:solidFill>
          <a:ln w="19050">
            <a:solidFill>
              <a:srgbClr val="B9DAE4"/>
            </a:solidFill>
          </a:ln>
        </p:spPr>
        <p:txBody>
          <a:bodyPr rtlCol="0" anchor="ctr"/>
          <a:lstStyle/>
          <a:p>
            <a:pPr algn="ctr"/>
          </a:p>
        </p:txBody>
      </p:sp>
      <p:sp>
        <p:nvSpPr>
          <p:cNvPr id="151" name="TextBox 150"/>
          <p:cNvSpPr txBox="1"/>
          <p:nvPr/>
        </p:nvSpPr>
        <p:spPr>
          <a:xfrm>
            <a:off x="1143000" y="4389120"/>
            <a:ext cx="3054096" cy="1280160"/>
          </a:xfrm>
          <a:prstGeom prst="rect">
            <a:avLst/>
          </a:prstGeom>
          <a:noFill/>
        </p:spPr>
        <p:txBody>
          <a:bodyPr wrap="square" lIns="0" rIns="0" tIns="0" bIns="0" anchor="ctr">
            <a:spAutoFit/>
          </a:bodyPr>
          <a:lstStyle/>
          <a:p>
            <a:pPr algn="ctr">
              <a:spcAft>
                <a:spcPts val="0"/>
              </a:spcAft>
            </a:pPr>
            <a:r>
              <a:rPr sz="2300" b="1" i="0">
                <a:solidFill>
                  <a:srgbClr val="0F2A44"/>
                </a:solidFill>
                <a:latin typeface="Calibri"/>
              </a:rPr>
              <a:t>Warehouses</a:t>
            </a:r>
          </a:p>
          <a:p>
            <a:pPr algn="ctr">
              <a:spcAft>
                <a:spcPts val="0"/>
              </a:spcAft>
            </a:pPr>
            <a:r>
              <a:rPr sz="1900" b="0" i="0">
                <a:solidFill>
                  <a:srgbClr val="4B6578"/>
                </a:solidFill>
                <a:latin typeface="Calibri"/>
              </a:rPr>
              <a:t>stock levels</a:t>
            </a:r>
          </a:p>
        </p:txBody>
      </p:sp>
      <p:sp>
        <p:nvSpPr>
          <p:cNvPr id="152" name="Rounded Rectangle 151"/>
          <p:cNvSpPr/>
          <p:nvPr/>
        </p:nvSpPr>
        <p:spPr>
          <a:xfrm>
            <a:off x="1024128" y="6035040"/>
            <a:ext cx="3291840" cy="1280160"/>
          </a:xfrm>
          <a:prstGeom prst="roundRect">
            <a:avLst>
              <a:gd name="adj" fmla="val 2000"/>
            </a:avLst>
          </a:prstGeom>
          <a:solidFill>
            <a:srgbClr val="FFFFFF"/>
          </a:solidFill>
          <a:ln w="19050">
            <a:solidFill>
              <a:srgbClr val="B9DAE4"/>
            </a:solidFill>
          </a:ln>
        </p:spPr>
        <p:txBody>
          <a:bodyPr rtlCol="0" anchor="ctr"/>
          <a:lstStyle/>
          <a:p>
            <a:pPr algn="ctr"/>
          </a:p>
        </p:txBody>
      </p:sp>
      <p:sp>
        <p:nvSpPr>
          <p:cNvPr id="153" name="TextBox 152"/>
          <p:cNvSpPr txBox="1"/>
          <p:nvPr/>
        </p:nvSpPr>
        <p:spPr>
          <a:xfrm>
            <a:off x="1143000" y="6035040"/>
            <a:ext cx="3054096" cy="1280160"/>
          </a:xfrm>
          <a:prstGeom prst="rect">
            <a:avLst/>
          </a:prstGeom>
          <a:noFill/>
        </p:spPr>
        <p:txBody>
          <a:bodyPr wrap="square" lIns="0" rIns="0" tIns="0" bIns="0" anchor="ctr">
            <a:spAutoFit/>
          </a:bodyPr>
          <a:lstStyle/>
          <a:p>
            <a:pPr algn="ctr">
              <a:spcAft>
                <a:spcPts val="0"/>
              </a:spcAft>
            </a:pPr>
            <a:r>
              <a:rPr sz="2300" b="1" i="0">
                <a:solidFill>
                  <a:srgbClr val="0F2A44"/>
                </a:solidFill>
                <a:latin typeface="Calibri"/>
              </a:rPr>
              <a:t>Transport dept</a:t>
            </a:r>
          </a:p>
          <a:p>
            <a:pPr algn="ctr">
              <a:spcAft>
                <a:spcPts val="0"/>
              </a:spcAft>
            </a:pPr>
            <a:r>
              <a:rPr sz="1900" b="0" i="0">
                <a:solidFill>
                  <a:srgbClr val="4B6578"/>
                </a:solidFill>
                <a:latin typeface="Calibri"/>
              </a:rPr>
              <a:t>road status</a:t>
            </a:r>
          </a:p>
        </p:txBody>
      </p:sp>
      <p:sp>
        <p:nvSpPr>
          <p:cNvPr id="154" name="Rounded Rectangle 153"/>
          <p:cNvSpPr/>
          <p:nvPr/>
        </p:nvSpPr>
        <p:spPr>
          <a:xfrm>
            <a:off x="5120640" y="3749039"/>
            <a:ext cx="1783080" cy="1737360"/>
          </a:xfrm>
          <a:prstGeom prst="roundRect">
            <a:avLst>
              <a:gd name="adj" fmla="val 12000"/>
            </a:avLst>
          </a:prstGeom>
          <a:solidFill>
            <a:srgbClr val="0F2A44"/>
          </a:solidFill>
          <a:ln>
            <a:noFill/>
          </a:ln>
        </p:spPr>
        <p:txBody>
          <a:bodyPr rtlCol="0" anchor="ctr"/>
          <a:lstStyle/>
          <a:p>
            <a:pPr algn="ctr"/>
          </a:p>
        </p:txBody>
      </p:sp>
      <p:sp>
        <p:nvSpPr>
          <p:cNvPr id="155" name="TextBox 154"/>
          <p:cNvSpPr txBox="1"/>
          <p:nvPr/>
        </p:nvSpPr>
        <p:spPr>
          <a:xfrm>
            <a:off x="5230368" y="3749039"/>
            <a:ext cx="1563624" cy="1737360"/>
          </a:xfrm>
          <a:prstGeom prst="rect">
            <a:avLst/>
          </a:prstGeom>
          <a:noFill/>
        </p:spPr>
        <p:txBody>
          <a:bodyPr wrap="square" lIns="0" rIns="0" tIns="0" bIns="0" anchor="ctr">
            <a:spAutoFit/>
          </a:bodyPr>
          <a:lstStyle/>
          <a:p>
            <a:pPr algn="ctr">
              <a:spcAft>
                <a:spcPts val="0"/>
              </a:spcAft>
            </a:pPr>
            <a:r>
              <a:rPr sz="2000" b="1" i="0">
                <a:solidFill>
                  <a:srgbClr val="FFFFFF"/>
                </a:solidFill>
                <a:latin typeface="Calibri"/>
              </a:rPr>
              <a:t>P1 Ingest and validate</a:t>
            </a:r>
          </a:p>
        </p:txBody>
      </p:sp>
      <p:cxnSp>
        <p:nvCxnSpPr>
          <p:cNvPr id="156" name="Connector 155"/>
          <p:cNvCxnSpPr/>
          <p:nvPr/>
        </p:nvCxnSpPr>
        <p:spPr>
          <a:xfrm>
            <a:off x="6922007" y="4617720"/>
            <a:ext cx="219457" cy="0"/>
          </a:xfrm>
          <a:prstGeom prst="line">
            <a:avLst/>
          </a:prstGeom>
          <a:ln w="31750">
            <a:solidFill>
              <a:srgbClr val="0E8C8C"/>
            </a:solidFill>
            <a:tailEnd type="triangle"/>
          </a:ln>
        </p:spPr>
      </p:cxnSp>
      <p:sp>
        <p:nvSpPr>
          <p:cNvPr id="157" name="Rounded Rectangle 156"/>
          <p:cNvSpPr/>
          <p:nvPr/>
        </p:nvSpPr>
        <p:spPr>
          <a:xfrm>
            <a:off x="7159752" y="3749039"/>
            <a:ext cx="1783080" cy="1737360"/>
          </a:xfrm>
          <a:prstGeom prst="roundRect">
            <a:avLst>
              <a:gd name="adj" fmla="val 12000"/>
            </a:avLst>
          </a:prstGeom>
          <a:solidFill>
            <a:srgbClr val="0F2A44"/>
          </a:solidFill>
          <a:ln>
            <a:noFill/>
          </a:ln>
        </p:spPr>
        <p:txBody>
          <a:bodyPr rtlCol="0" anchor="ctr"/>
          <a:lstStyle/>
          <a:p>
            <a:pPr algn="ctr"/>
          </a:p>
        </p:txBody>
      </p:sp>
      <p:sp>
        <p:nvSpPr>
          <p:cNvPr id="158" name="TextBox 157"/>
          <p:cNvSpPr txBox="1"/>
          <p:nvPr/>
        </p:nvSpPr>
        <p:spPr>
          <a:xfrm>
            <a:off x="7269480" y="3749039"/>
            <a:ext cx="1563624" cy="1737360"/>
          </a:xfrm>
          <a:prstGeom prst="rect">
            <a:avLst/>
          </a:prstGeom>
          <a:noFill/>
        </p:spPr>
        <p:txBody>
          <a:bodyPr wrap="square" lIns="0" rIns="0" tIns="0" bIns="0" anchor="ctr">
            <a:spAutoFit/>
          </a:bodyPr>
          <a:lstStyle/>
          <a:p>
            <a:pPr algn="ctr">
              <a:spcAft>
                <a:spcPts val="0"/>
              </a:spcAft>
            </a:pPr>
            <a:r>
              <a:rPr sz="2000" b="1" i="0">
                <a:solidFill>
                  <a:srgbClr val="FFFFFF"/>
                </a:solidFill>
                <a:latin typeface="Calibri"/>
              </a:rPr>
              <a:t>P2 Score need and road access</a:t>
            </a:r>
          </a:p>
        </p:txBody>
      </p:sp>
      <p:cxnSp>
        <p:nvCxnSpPr>
          <p:cNvPr id="159" name="Connector 158"/>
          <p:cNvCxnSpPr/>
          <p:nvPr/>
        </p:nvCxnSpPr>
        <p:spPr>
          <a:xfrm>
            <a:off x="8961119" y="4617720"/>
            <a:ext cx="219457" cy="0"/>
          </a:xfrm>
          <a:prstGeom prst="line">
            <a:avLst/>
          </a:prstGeom>
          <a:ln w="31750">
            <a:solidFill>
              <a:srgbClr val="0E8C8C"/>
            </a:solidFill>
            <a:tailEnd type="triangle"/>
          </a:ln>
        </p:spPr>
      </p:cxnSp>
      <p:sp>
        <p:nvSpPr>
          <p:cNvPr id="160" name="Rounded Rectangle 159"/>
          <p:cNvSpPr/>
          <p:nvPr/>
        </p:nvSpPr>
        <p:spPr>
          <a:xfrm>
            <a:off x="9198863" y="3749039"/>
            <a:ext cx="1783080" cy="1737360"/>
          </a:xfrm>
          <a:prstGeom prst="roundRect">
            <a:avLst>
              <a:gd name="adj" fmla="val 12000"/>
            </a:avLst>
          </a:prstGeom>
          <a:solidFill>
            <a:srgbClr val="0F2A44"/>
          </a:solidFill>
          <a:ln>
            <a:noFill/>
          </a:ln>
        </p:spPr>
        <p:txBody>
          <a:bodyPr rtlCol="0" anchor="ctr"/>
          <a:lstStyle/>
          <a:p>
            <a:pPr algn="ctr"/>
          </a:p>
        </p:txBody>
      </p:sp>
      <p:sp>
        <p:nvSpPr>
          <p:cNvPr id="161" name="TextBox 160"/>
          <p:cNvSpPr txBox="1"/>
          <p:nvPr/>
        </p:nvSpPr>
        <p:spPr>
          <a:xfrm>
            <a:off x="9308591" y="3749039"/>
            <a:ext cx="1563624" cy="1737360"/>
          </a:xfrm>
          <a:prstGeom prst="rect">
            <a:avLst/>
          </a:prstGeom>
          <a:noFill/>
        </p:spPr>
        <p:txBody>
          <a:bodyPr wrap="square" lIns="0" rIns="0" tIns="0" bIns="0" anchor="ctr">
            <a:spAutoFit/>
          </a:bodyPr>
          <a:lstStyle/>
          <a:p>
            <a:pPr algn="ctr">
              <a:spcAft>
                <a:spcPts val="0"/>
              </a:spcAft>
            </a:pPr>
            <a:r>
              <a:rPr sz="2000" b="1" i="0">
                <a:solidFill>
                  <a:srgbClr val="FFFFFF"/>
                </a:solidFill>
                <a:latin typeface="Calibri"/>
              </a:rPr>
              <a:t>P3 Apply fairness debt</a:t>
            </a:r>
          </a:p>
        </p:txBody>
      </p:sp>
      <p:cxnSp>
        <p:nvCxnSpPr>
          <p:cNvPr id="162" name="Connector 161"/>
          <p:cNvCxnSpPr/>
          <p:nvPr/>
        </p:nvCxnSpPr>
        <p:spPr>
          <a:xfrm>
            <a:off x="11000231" y="4617720"/>
            <a:ext cx="219457" cy="0"/>
          </a:xfrm>
          <a:prstGeom prst="line">
            <a:avLst/>
          </a:prstGeom>
          <a:ln w="31750">
            <a:solidFill>
              <a:srgbClr val="0E8C8C"/>
            </a:solidFill>
            <a:tailEnd type="triangle"/>
          </a:ln>
        </p:spPr>
      </p:cxnSp>
      <p:sp>
        <p:nvSpPr>
          <p:cNvPr id="163" name="Rounded Rectangle 162"/>
          <p:cNvSpPr/>
          <p:nvPr/>
        </p:nvSpPr>
        <p:spPr>
          <a:xfrm>
            <a:off x="11237976" y="3749039"/>
            <a:ext cx="1783080" cy="1737360"/>
          </a:xfrm>
          <a:prstGeom prst="roundRect">
            <a:avLst>
              <a:gd name="adj" fmla="val 12000"/>
            </a:avLst>
          </a:prstGeom>
          <a:solidFill>
            <a:srgbClr val="0F2A44"/>
          </a:solidFill>
          <a:ln>
            <a:noFill/>
          </a:ln>
        </p:spPr>
        <p:txBody>
          <a:bodyPr rtlCol="0" anchor="ctr"/>
          <a:lstStyle/>
          <a:p>
            <a:pPr algn="ctr"/>
          </a:p>
        </p:txBody>
      </p:sp>
      <p:sp>
        <p:nvSpPr>
          <p:cNvPr id="164" name="TextBox 163"/>
          <p:cNvSpPr txBox="1"/>
          <p:nvPr/>
        </p:nvSpPr>
        <p:spPr>
          <a:xfrm>
            <a:off x="11347703" y="3749039"/>
            <a:ext cx="1563624" cy="1737360"/>
          </a:xfrm>
          <a:prstGeom prst="rect">
            <a:avLst/>
          </a:prstGeom>
          <a:noFill/>
        </p:spPr>
        <p:txBody>
          <a:bodyPr wrap="square" lIns="0" rIns="0" tIns="0" bIns="0" anchor="ctr">
            <a:spAutoFit/>
          </a:bodyPr>
          <a:lstStyle/>
          <a:p>
            <a:pPr algn="ctr">
              <a:spcAft>
                <a:spcPts val="0"/>
              </a:spcAft>
            </a:pPr>
            <a:r>
              <a:rPr sz="2000" b="1" i="0">
                <a:solidFill>
                  <a:srgbClr val="FFFFFF"/>
                </a:solidFill>
                <a:latin typeface="Calibri"/>
              </a:rPr>
              <a:t>P4 Build Plan A and Plan B</a:t>
            </a:r>
          </a:p>
        </p:txBody>
      </p:sp>
      <p:cxnSp>
        <p:nvCxnSpPr>
          <p:cNvPr id="165" name="Connector 164"/>
          <p:cNvCxnSpPr/>
          <p:nvPr/>
        </p:nvCxnSpPr>
        <p:spPr>
          <a:xfrm>
            <a:off x="13039343" y="4617720"/>
            <a:ext cx="219457" cy="0"/>
          </a:xfrm>
          <a:prstGeom prst="line">
            <a:avLst/>
          </a:prstGeom>
          <a:ln w="31750">
            <a:solidFill>
              <a:srgbClr val="0E8C8C"/>
            </a:solidFill>
            <a:tailEnd type="triangle"/>
          </a:ln>
        </p:spPr>
      </p:cxnSp>
      <p:sp>
        <p:nvSpPr>
          <p:cNvPr id="166" name="Rounded Rectangle 165"/>
          <p:cNvSpPr/>
          <p:nvPr/>
        </p:nvSpPr>
        <p:spPr>
          <a:xfrm>
            <a:off x="13277088" y="3749039"/>
            <a:ext cx="1783080" cy="1737360"/>
          </a:xfrm>
          <a:prstGeom prst="roundRect">
            <a:avLst>
              <a:gd name="adj" fmla="val 12000"/>
            </a:avLst>
          </a:prstGeom>
          <a:solidFill>
            <a:srgbClr val="0F2A44"/>
          </a:solidFill>
          <a:ln>
            <a:noFill/>
          </a:ln>
        </p:spPr>
        <p:txBody>
          <a:bodyPr rtlCol="0" anchor="ctr"/>
          <a:lstStyle/>
          <a:p>
            <a:pPr algn="ctr"/>
          </a:p>
        </p:txBody>
      </p:sp>
      <p:sp>
        <p:nvSpPr>
          <p:cNvPr id="167" name="TextBox 166"/>
          <p:cNvSpPr txBox="1"/>
          <p:nvPr/>
        </p:nvSpPr>
        <p:spPr>
          <a:xfrm>
            <a:off x="13386815" y="3749039"/>
            <a:ext cx="1563624" cy="1737360"/>
          </a:xfrm>
          <a:prstGeom prst="rect">
            <a:avLst/>
          </a:prstGeom>
          <a:noFill/>
        </p:spPr>
        <p:txBody>
          <a:bodyPr wrap="square" lIns="0" rIns="0" tIns="0" bIns="0" anchor="ctr">
            <a:spAutoFit/>
          </a:bodyPr>
          <a:lstStyle/>
          <a:p>
            <a:pPr algn="ctr">
              <a:spcAft>
                <a:spcPts val="0"/>
              </a:spcAft>
            </a:pPr>
            <a:r>
              <a:rPr sz="2000" b="1" i="0">
                <a:solidFill>
                  <a:srgbClr val="FFFFFF"/>
                </a:solidFill>
                <a:latin typeface="Calibri"/>
              </a:rPr>
              <a:t>P5 Fairness Report and approval</a:t>
            </a:r>
          </a:p>
        </p:txBody>
      </p:sp>
      <p:cxnSp>
        <p:nvCxnSpPr>
          <p:cNvPr id="168" name="Connector 167"/>
          <p:cNvCxnSpPr/>
          <p:nvPr/>
        </p:nvCxnSpPr>
        <p:spPr>
          <a:xfrm>
            <a:off x="15078455" y="4617720"/>
            <a:ext cx="219457" cy="0"/>
          </a:xfrm>
          <a:prstGeom prst="line">
            <a:avLst/>
          </a:prstGeom>
          <a:ln w="31750">
            <a:solidFill>
              <a:srgbClr val="0E8C8C"/>
            </a:solidFill>
            <a:tailEnd type="triangle"/>
          </a:ln>
        </p:spPr>
      </p:cxnSp>
      <p:sp>
        <p:nvSpPr>
          <p:cNvPr id="169" name="Rounded Rectangle 168"/>
          <p:cNvSpPr/>
          <p:nvPr/>
        </p:nvSpPr>
        <p:spPr>
          <a:xfrm>
            <a:off x="15316200" y="3749039"/>
            <a:ext cx="1783080" cy="1737360"/>
          </a:xfrm>
          <a:prstGeom prst="roundRect">
            <a:avLst>
              <a:gd name="adj" fmla="val 12000"/>
            </a:avLst>
          </a:prstGeom>
          <a:solidFill>
            <a:srgbClr val="0F2A44"/>
          </a:solidFill>
          <a:ln>
            <a:noFill/>
          </a:ln>
        </p:spPr>
        <p:txBody>
          <a:bodyPr rtlCol="0" anchor="ctr"/>
          <a:lstStyle/>
          <a:p>
            <a:pPr algn="ctr"/>
          </a:p>
        </p:txBody>
      </p:sp>
      <p:sp>
        <p:nvSpPr>
          <p:cNvPr id="170" name="TextBox 169"/>
          <p:cNvSpPr txBox="1"/>
          <p:nvPr/>
        </p:nvSpPr>
        <p:spPr>
          <a:xfrm>
            <a:off x="15425928" y="3749039"/>
            <a:ext cx="1563624" cy="1737360"/>
          </a:xfrm>
          <a:prstGeom prst="rect">
            <a:avLst/>
          </a:prstGeom>
          <a:noFill/>
        </p:spPr>
        <p:txBody>
          <a:bodyPr wrap="square" lIns="0" rIns="0" tIns="0" bIns="0" anchor="ctr">
            <a:spAutoFit/>
          </a:bodyPr>
          <a:lstStyle/>
          <a:p>
            <a:pPr algn="ctr">
              <a:spcAft>
                <a:spcPts val="0"/>
              </a:spcAft>
            </a:pPr>
            <a:r>
              <a:rPr sz="2000" b="1" i="0">
                <a:solidFill>
                  <a:srgbClr val="FFFFFF"/>
                </a:solidFill>
                <a:latin typeface="Calibri"/>
              </a:rPr>
              <a:t>P6 Dispatch and update</a:t>
            </a:r>
          </a:p>
        </p:txBody>
      </p:sp>
      <p:cxnSp>
        <p:nvCxnSpPr>
          <p:cNvPr id="171" name="Connector 170"/>
          <p:cNvCxnSpPr/>
          <p:nvPr/>
        </p:nvCxnSpPr>
        <p:spPr>
          <a:xfrm>
            <a:off x="4334256" y="3383280"/>
            <a:ext cx="768096" cy="1234440"/>
          </a:xfrm>
          <a:prstGeom prst="line">
            <a:avLst/>
          </a:prstGeom>
          <a:ln w="31750">
            <a:solidFill>
              <a:srgbClr val="0E8C8C"/>
            </a:solidFill>
            <a:tailEnd type="triangle"/>
          </a:ln>
        </p:spPr>
      </p:cxnSp>
      <p:cxnSp>
        <p:nvCxnSpPr>
          <p:cNvPr id="172" name="Connector 171"/>
          <p:cNvCxnSpPr/>
          <p:nvPr/>
        </p:nvCxnSpPr>
        <p:spPr>
          <a:xfrm flipV="1">
            <a:off x="4334256" y="4617720"/>
            <a:ext cx="768096" cy="411480"/>
          </a:xfrm>
          <a:prstGeom prst="line">
            <a:avLst/>
          </a:prstGeom>
          <a:ln w="31750">
            <a:solidFill>
              <a:srgbClr val="0E8C8C"/>
            </a:solidFill>
            <a:tailEnd type="triangle"/>
          </a:ln>
        </p:spPr>
      </p:cxnSp>
      <p:cxnSp>
        <p:nvCxnSpPr>
          <p:cNvPr id="173" name="Connector 172"/>
          <p:cNvCxnSpPr/>
          <p:nvPr/>
        </p:nvCxnSpPr>
        <p:spPr>
          <a:xfrm flipV="1">
            <a:off x="4334256" y="4617720"/>
            <a:ext cx="768096" cy="2057400"/>
          </a:xfrm>
          <a:prstGeom prst="line">
            <a:avLst/>
          </a:prstGeom>
          <a:ln w="31750">
            <a:solidFill>
              <a:srgbClr val="0E8C8C"/>
            </a:solidFill>
            <a:tailEnd type="triangle"/>
          </a:ln>
        </p:spPr>
      </p:cxnSp>
      <p:sp>
        <p:nvSpPr>
          <p:cNvPr id="174" name="Rounded Rectangle 173"/>
          <p:cNvSpPr/>
          <p:nvPr/>
        </p:nvSpPr>
        <p:spPr>
          <a:xfrm>
            <a:off x="12710160" y="2240280"/>
            <a:ext cx="3566160" cy="1097280"/>
          </a:xfrm>
          <a:prstGeom prst="roundRect">
            <a:avLst>
              <a:gd name="adj" fmla="val 2000"/>
            </a:avLst>
          </a:prstGeom>
          <a:solidFill>
            <a:srgbClr val="FFFFFF"/>
          </a:solidFill>
          <a:ln w="19050">
            <a:solidFill>
              <a:srgbClr val="B9DAE4"/>
            </a:solidFill>
          </a:ln>
        </p:spPr>
        <p:txBody>
          <a:bodyPr rtlCol="0" anchor="ctr"/>
          <a:lstStyle/>
          <a:p>
            <a:pPr algn="ctr"/>
          </a:p>
        </p:txBody>
      </p:sp>
      <p:sp>
        <p:nvSpPr>
          <p:cNvPr id="175" name="TextBox 174"/>
          <p:cNvSpPr txBox="1"/>
          <p:nvPr/>
        </p:nvSpPr>
        <p:spPr>
          <a:xfrm>
            <a:off x="12801600" y="2240280"/>
            <a:ext cx="3383280" cy="1097280"/>
          </a:xfrm>
          <a:prstGeom prst="rect">
            <a:avLst/>
          </a:prstGeom>
          <a:noFill/>
        </p:spPr>
        <p:txBody>
          <a:bodyPr wrap="square" lIns="0" rIns="0" tIns="0" bIns="0" anchor="ctr">
            <a:spAutoFit/>
          </a:bodyPr>
          <a:lstStyle/>
          <a:p>
            <a:pPr algn="ctr">
              <a:spcAft>
                <a:spcPts val="0"/>
              </a:spcAft>
            </a:pPr>
            <a:r>
              <a:rPr sz="2100" b="1" i="0">
                <a:solidFill>
                  <a:srgbClr val="0F2A44"/>
                </a:solidFill>
                <a:latin typeface="Calibri"/>
              </a:rPr>
              <a:t>Officer</a:t>
            </a:r>
          </a:p>
          <a:p>
            <a:pPr algn="ctr">
              <a:spcAft>
                <a:spcPts val="0"/>
              </a:spcAft>
            </a:pPr>
            <a:r>
              <a:rPr sz="1700" b="0" i="0">
                <a:solidFill>
                  <a:srgbClr val="4B6578"/>
                </a:solidFill>
                <a:latin typeface="Calibri"/>
              </a:rPr>
              <a:t>reviews and approves</a:t>
            </a:r>
          </a:p>
        </p:txBody>
      </p:sp>
      <p:cxnSp>
        <p:nvCxnSpPr>
          <p:cNvPr id="176" name="Connector 175"/>
          <p:cNvCxnSpPr/>
          <p:nvPr/>
        </p:nvCxnSpPr>
        <p:spPr>
          <a:xfrm flipV="1">
            <a:off x="13825728" y="3355848"/>
            <a:ext cx="164592" cy="374904"/>
          </a:xfrm>
          <a:prstGeom prst="line">
            <a:avLst/>
          </a:prstGeom>
          <a:ln w="31750">
            <a:solidFill>
              <a:srgbClr val="0E8C8C"/>
            </a:solidFill>
            <a:headEnd type="triangle"/>
            <a:tailEnd type="triangle"/>
          </a:ln>
        </p:spPr>
      </p:cxnSp>
      <p:sp>
        <p:nvSpPr>
          <p:cNvPr id="177" name="Rounded Rectangle 176"/>
          <p:cNvSpPr/>
          <p:nvPr/>
        </p:nvSpPr>
        <p:spPr>
          <a:xfrm>
            <a:off x="5120640" y="7635240"/>
            <a:ext cx="1828800" cy="1188720"/>
          </a:xfrm>
          <a:prstGeom prst="roundRect">
            <a:avLst>
              <a:gd name="adj" fmla="val 2000"/>
            </a:avLst>
          </a:prstGeom>
          <a:solidFill>
            <a:srgbClr val="E8F4F7"/>
          </a:solidFill>
          <a:ln w="19050">
            <a:solidFill>
              <a:srgbClr val="B9DAE4"/>
            </a:solidFill>
          </a:ln>
        </p:spPr>
        <p:txBody>
          <a:bodyPr rtlCol="0" anchor="ctr"/>
          <a:lstStyle/>
          <a:p>
            <a:pPr algn="ctr"/>
          </a:p>
        </p:txBody>
      </p:sp>
      <p:sp>
        <p:nvSpPr>
          <p:cNvPr id="178" name="TextBox 177"/>
          <p:cNvSpPr txBox="1"/>
          <p:nvPr/>
        </p:nvSpPr>
        <p:spPr>
          <a:xfrm>
            <a:off x="5212079" y="7635240"/>
            <a:ext cx="1645920" cy="1188720"/>
          </a:xfrm>
          <a:prstGeom prst="rect">
            <a:avLst/>
          </a:prstGeom>
          <a:noFill/>
        </p:spPr>
        <p:txBody>
          <a:bodyPr wrap="square" lIns="0" rIns="0" tIns="0" bIns="0" anchor="ctr">
            <a:spAutoFit/>
          </a:bodyPr>
          <a:lstStyle/>
          <a:p>
            <a:pPr algn="ctr">
              <a:spcAft>
                <a:spcPts val="0"/>
              </a:spcAft>
            </a:pPr>
            <a:r>
              <a:rPr sz="2000" b="1" i="0">
                <a:solidFill>
                  <a:srgbClr val="0F2A44"/>
                </a:solidFill>
                <a:latin typeface="Calibri"/>
              </a:rPr>
              <a:t>D1 Ward data</a:t>
            </a:r>
          </a:p>
        </p:txBody>
      </p:sp>
      <p:sp>
        <p:nvSpPr>
          <p:cNvPr id="179" name="Rounded Rectangle 178"/>
          <p:cNvSpPr/>
          <p:nvPr/>
        </p:nvSpPr>
        <p:spPr>
          <a:xfrm>
            <a:off x="7223760" y="7635240"/>
            <a:ext cx="1828800" cy="1188720"/>
          </a:xfrm>
          <a:prstGeom prst="roundRect">
            <a:avLst>
              <a:gd name="adj" fmla="val 2000"/>
            </a:avLst>
          </a:prstGeom>
          <a:solidFill>
            <a:srgbClr val="E8F4F7"/>
          </a:solidFill>
          <a:ln w="19050">
            <a:solidFill>
              <a:srgbClr val="B9DAE4"/>
            </a:solidFill>
          </a:ln>
        </p:spPr>
        <p:txBody>
          <a:bodyPr rtlCol="0" anchor="ctr"/>
          <a:lstStyle/>
          <a:p>
            <a:pPr algn="ctr"/>
          </a:p>
        </p:txBody>
      </p:sp>
      <p:sp>
        <p:nvSpPr>
          <p:cNvPr id="180" name="TextBox 179"/>
          <p:cNvSpPr txBox="1"/>
          <p:nvPr/>
        </p:nvSpPr>
        <p:spPr>
          <a:xfrm>
            <a:off x="7315200" y="7635240"/>
            <a:ext cx="1645920" cy="1188720"/>
          </a:xfrm>
          <a:prstGeom prst="rect">
            <a:avLst/>
          </a:prstGeom>
          <a:noFill/>
        </p:spPr>
        <p:txBody>
          <a:bodyPr wrap="square" lIns="0" rIns="0" tIns="0" bIns="0" anchor="ctr">
            <a:spAutoFit/>
          </a:bodyPr>
          <a:lstStyle/>
          <a:p>
            <a:pPr algn="ctr">
              <a:spcAft>
                <a:spcPts val="0"/>
              </a:spcAft>
            </a:pPr>
            <a:r>
              <a:rPr sz="2000" b="1" i="0">
                <a:solidFill>
                  <a:srgbClr val="0F2A44"/>
                </a:solidFill>
                <a:latin typeface="Calibri"/>
              </a:rPr>
              <a:t>D2 Warehouse stock</a:t>
            </a:r>
          </a:p>
        </p:txBody>
      </p:sp>
      <p:sp>
        <p:nvSpPr>
          <p:cNvPr id="181" name="Rounded Rectangle 180"/>
          <p:cNvSpPr/>
          <p:nvPr/>
        </p:nvSpPr>
        <p:spPr>
          <a:xfrm>
            <a:off x="9326880" y="7635240"/>
            <a:ext cx="1828800" cy="1188720"/>
          </a:xfrm>
          <a:prstGeom prst="roundRect">
            <a:avLst>
              <a:gd name="adj" fmla="val 2000"/>
            </a:avLst>
          </a:prstGeom>
          <a:solidFill>
            <a:srgbClr val="E8F4F7"/>
          </a:solidFill>
          <a:ln w="19050">
            <a:solidFill>
              <a:srgbClr val="B9DAE4"/>
            </a:solidFill>
          </a:ln>
        </p:spPr>
        <p:txBody>
          <a:bodyPr rtlCol="0" anchor="ctr"/>
          <a:lstStyle/>
          <a:p>
            <a:pPr algn="ctr"/>
          </a:p>
        </p:txBody>
      </p:sp>
      <p:sp>
        <p:nvSpPr>
          <p:cNvPr id="182" name="TextBox 181"/>
          <p:cNvSpPr txBox="1"/>
          <p:nvPr/>
        </p:nvSpPr>
        <p:spPr>
          <a:xfrm>
            <a:off x="9418319" y="7635240"/>
            <a:ext cx="1645920" cy="1188720"/>
          </a:xfrm>
          <a:prstGeom prst="rect">
            <a:avLst/>
          </a:prstGeom>
          <a:noFill/>
        </p:spPr>
        <p:txBody>
          <a:bodyPr wrap="square" lIns="0" rIns="0" tIns="0" bIns="0" anchor="ctr">
            <a:spAutoFit/>
          </a:bodyPr>
          <a:lstStyle/>
          <a:p>
            <a:pPr algn="ctr">
              <a:spcAft>
                <a:spcPts val="0"/>
              </a:spcAft>
            </a:pPr>
            <a:r>
              <a:rPr sz="2000" b="1" i="0">
                <a:solidFill>
                  <a:srgbClr val="0F2A44"/>
                </a:solidFill>
                <a:latin typeface="Calibri"/>
              </a:rPr>
              <a:t>D3 Road status</a:t>
            </a:r>
          </a:p>
        </p:txBody>
      </p:sp>
      <p:sp>
        <p:nvSpPr>
          <p:cNvPr id="183" name="Rounded Rectangle 182"/>
          <p:cNvSpPr/>
          <p:nvPr/>
        </p:nvSpPr>
        <p:spPr>
          <a:xfrm>
            <a:off x="11430000" y="7635240"/>
            <a:ext cx="1828800" cy="1188720"/>
          </a:xfrm>
          <a:prstGeom prst="roundRect">
            <a:avLst>
              <a:gd name="adj" fmla="val 2000"/>
            </a:avLst>
          </a:prstGeom>
          <a:solidFill>
            <a:srgbClr val="E8F4F7"/>
          </a:solidFill>
          <a:ln w="19050">
            <a:solidFill>
              <a:srgbClr val="B9DAE4"/>
            </a:solidFill>
          </a:ln>
        </p:spPr>
        <p:txBody>
          <a:bodyPr rtlCol="0" anchor="ctr"/>
          <a:lstStyle/>
          <a:p>
            <a:pPr algn="ctr"/>
          </a:p>
        </p:txBody>
      </p:sp>
      <p:sp>
        <p:nvSpPr>
          <p:cNvPr id="184" name="TextBox 183"/>
          <p:cNvSpPr txBox="1"/>
          <p:nvPr/>
        </p:nvSpPr>
        <p:spPr>
          <a:xfrm>
            <a:off x="11521440" y="7635240"/>
            <a:ext cx="1645920" cy="1188720"/>
          </a:xfrm>
          <a:prstGeom prst="rect">
            <a:avLst/>
          </a:prstGeom>
          <a:noFill/>
        </p:spPr>
        <p:txBody>
          <a:bodyPr wrap="square" lIns="0" rIns="0" tIns="0" bIns="0" anchor="ctr">
            <a:spAutoFit/>
          </a:bodyPr>
          <a:lstStyle/>
          <a:p>
            <a:pPr algn="ctr">
              <a:spcAft>
                <a:spcPts val="0"/>
              </a:spcAft>
            </a:pPr>
            <a:r>
              <a:rPr sz="2000" b="1" i="0">
                <a:solidFill>
                  <a:srgbClr val="0F2A44"/>
                </a:solidFill>
                <a:latin typeface="Calibri"/>
              </a:rPr>
              <a:t>D4 Fairness ledger</a:t>
            </a:r>
          </a:p>
        </p:txBody>
      </p:sp>
      <p:sp>
        <p:nvSpPr>
          <p:cNvPr id="185" name="Rounded Rectangle 184"/>
          <p:cNvSpPr/>
          <p:nvPr/>
        </p:nvSpPr>
        <p:spPr>
          <a:xfrm>
            <a:off x="13533120" y="7635240"/>
            <a:ext cx="1828800" cy="1188720"/>
          </a:xfrm>
          <a:prstGeom prst="roundRect">
            <a:avLst>
              <a:gd name="adj" fmla="val 2000"/>
            </a:avLst>
          </a:prstGeom>
          <a:solidFill>
            <a:srgbClr val="E8F4F7"/>
          </a:solidFill>
          <a:ln w="19050">
            <a:solidFill>
              <a:srgbClr val="B9DAE4"/>
            </a:solidFill>
          </a:ln>
        </p:spPr>
        <p:txBody>
          <a:bodyPr rtlCol="0" anchor="ctr"/>
          <a:lstStyle/>
          <a:p>
            <a:pPr algn="ctr"/>
          </a:p>
        </p:txBody>
      </p:sp>
      <p:sp>
        <p:nvSpPr>
          <p:cNvPr id="186" name="TextBox 185"/>
          <p:cNvSpPr txBox="1"/>
          <p:nvPr/>
        </p:nvSpPr>
        <p:spPr>
          <a:xfrm>
            <a:off x="13624560" y="7635240"/>
            <a:ext cx="1645920" cy="1188720"/>
          </a:xfrm>
          <a:prstGeom prst="rect">
            <a:avLst/>
          </a:prstGeom>
          <a:noFill/>
        </p:spPr>
        <p:txBody>
          <a:bodyPr wrap="square" lIns="0" rIns="0" tIns="0" bIns="0" anchor="ctr">
            <a:spAutoFit/>
          </a:bodyPr>
          <a:lstStyle/>
          <a:p>
            <a:pPr algn="ctr">
              <a:spcAft>
                <a:spcPts val="0"/>
              </a:spcAft>
            </a:pPr>
            <a:r>
              <a:rPr sz="2000" b="1" i="0">
                <a:solidFill>
                  <a:srgbClr val="0F2A44"/>
                </a:solidFill>
                <a:latin typeface="Calibri"/>
              </a:rPr>
              <a:t>D5 Audit log</a:t>
            </a:r>
          </a:p>
        </p:txBody>
      </p:sp>
      <p:cxnSp>
        <p:nvCxnSpPr>
          <p:cNvPr id="187" name="Connector 186"/>
          <p:cNvCxnSpPr/>
          <p:nvPr/>
        </p:nvCxnSpPr>
        <p:spPr>
          <a:xfrm>
            <a:off x="5669279" y="5504688"/>
            <a:ext cx="365761" cy="2112264"/>
          </a:xfrm>
          <a:prstGeom prst="line">
            <a:avLst/>
          </a:prstGeom>
          <a:ln w="25400">
            <a:solidFill>
              <a:srgbClr val="0E8C8C"/>
            </a:solidFill>
            <a:tailEnd type="triangle"/>
          </a:ln>
        </p:spPr>
      </p:cxnSp>
      <p:cxnSp>
        <p:nvCxnSpPr>
          <p:cNvPr id="188" name="Connector 187"/>
          <p:cNvCxnSpPr/>
          <p:nvPr/>
        </p:nvCxnSpPr>
        <p:spPr>
          <a:xfrm>
            <a:off x="6035040" y="5504688"/>
            <a:ext cx="2103120" cy="2112264"/>
          </a:xfrm>
          <a:prstGeom prst="line">
            <a:avLst/>
          </a:prstGeom>
          <a:ln w="25400">
            <a:solidFill>
              <a:srgbClr val="0E8C8C"/>
            </a:solidFill>
            <a:tailEnd type="triangle"/>
          </a:ln>
        </p:spPr>
      </p:cxnSp>
      <p:cxnSp>
        <p:nvCxnSpPr>
          <p:cNvPr id="189" name="Connector 188"/>
          <p:cNvCxnSpPr/>
          <p:nvPr/>
        </p:nvCxnSpPr>
        <p:spPr>
          <a:xfrm>
            <a:off x="6400800" y="5504688"/>
            <a:ext cx="3840480" cy="2112264"/>
          </a:xfrm>
          <a:prstGeom prst="line">
            <a:avLst/>
          </a:prstGeom>
          <a:ln w="25400">
            <a:solidFill>
              <a:srgbClr val="0E8C8C"/>
            </a:solidFill>
            <a:tailEnd type="triangle"/>
          </a:ln>
        </p:spPr>
      </p:cxnSp>
      <p:cxnSp>
        <p:nvCxnSpPr>
          <p:cNvPr id="190" name="Connector 189"/>
          <p:cNvCxnSpPr/>
          <p:nvPr/>
        </p:nvCxnSpPr>
        <p:spPr>
          <a:xfrm>
            <a:off x="10021824" y="5504688"/>
            <a:ext cx="2322576" cy="2112264"/>
          </a:xfrm>
          <a:prstGeom prst="line">
            <a:avLst/>
          </a:prstGeom>
          <a:ln w="25400">
            <a:solidFill>
              <a:srgbClr val="0E8C8C"/>
            </a:solidFill>
            <a:headEnd type="triangle"/>
            <a:tailEnd type="triangle"/>
          </a:ln>
        </p:spPr>
      </p:cxnSp>
      <p:cxnSp>
        <p:nvCxnSpPr>
          <p:cNvPr id="191" name="Connector 190"/>
          <p:cNvCxnSpPr/>
          <p:nvPr/>
        </p:nvCxnSpPr>
        <p:spPr>
          <a:xfrm>
            <a:off x="14100048" y="5504688"/>
            <a:ext cx="347472" cy="2112264"/>
          </a:xfrm>
          <a:prstGeom prst="line">
            <a:avLst/>
          </a:prstGeom>
          <a:ln w="25400">
            <a:solidFill>
              <a:srgbClr val="0E8C8C"/>
            </a:solidFill>
            <a:tailEnd type="triangle"/>
          </a:ln>
        </p:spPr>
      </p:cxnSp>
      <p:cxnSp>
        <p:nvCxnSpPr>
          <p:cNvPr id="192" name="Connector 191"/>
          <p:cNvCxnSpPr/>
          <p:nvPr/>
        </p:nvCxnSpPr>
        <p:spPr>
          <a:xfrm flipH="1">
            <a:off x="14996159" y="5504688"/>
            <a:ext cx="1143000" cy="2112264"/>
          </a:xfrm>
          <a:prstGeom prst="line">
            <a:avLst/>
          </a:prstGeom>
          <a:ln w="25400">
            <a:solidFill>
              <a:srgbClr val="0E8C8C"/>
            </a:solidFill>
            <a:tailEnd type="triangle"/>
          </a:ln>
        </p:spPr>
      </p:cxnSp>
      <p:sp>
        <p:nvSpPr>
          <p:cNvPr id="193" name="TextBox 192"/>
          <p:cNvSpPr txBox="1"/>
          <p:nvPr/>
        </p:nvSpPr>
        <p:spPr>
          <a:xfrm>
            <a:off x="1024128" y="9144000"/>
            <a:ext cx="16239744" cy="731520"/>
          </a:xfrm>
          <a:prstGeom prst="rect">
            <a:avLst/>
          </a:prstGeom>
          <a:noFill/>
        </p:spPr>
        <p:txBody>
          <a:bodyPr wrap="square" lIns="0" rIns="0" tIns="0" bIns="0" anchor="t">
            <a:spAutoFit/>
          </a:bodyPr>
          <a:lstStyle/>
          <a:p>
            <a:pPr algn="l">
              <a:spcAft>
                <a:spcPts val="0"/>
              </a:spcAft>
            </a:pPr>
            <a:r>
              <a:rPr sz="1800" b="0" i="1">
                <a:solidFill>
                  <a:srgbClr val="4B6578"/>
                </a:solidFill>
                <a:latin typeface="Calibri"/>
              </a:rPr>
              <a:t>Rectangles: external entities. Rounded boxes: processes. Shaded boxes: data stores. Scores and plans come from deterministic Code nodes; the LLM only explains.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427" l="-7180" r="-3000" t="-19076"/>
            </a:stretch>
          </a:blipFill>
          <a:ln>
            <a:noFill/>
          </a:ln>
        </p:spPr>
        <p:txBody>
          <a:bodyPr/>
          <a:p/>
        </p:txBody>
      </p:sp>
      <p:sp>
        <p:nvSpPr>
          <p:cNvPr id="153" name="Google Shape;153;p6"/>
          <p:cNvSpPr/>
          <p:nvPr/>
        </p:nvSpPr>
        <p:spPr>
          <a:xfrm>
            <a:off x="5317038" y="-4518398"/>
            <a:ext cx="22188662" cy="18920878"/>
          </a:xfrm>
          <a:custGeom>
            <a:rect b="b" l="l" r="r" t="t"/>
            <a:pathLst>
              <a:path extrusionOk="0" h="18920878" w="22188662">
                <a:moveTo>
                  <a:pt x="0" y="0"/>
                </a:moveTo>
                <a:lnTo>
                  <a:pt x="22188663" y="0"/>
                </a:lnTo>
                <a:lnTo>
                  <a:pt x="22188663" y="18920878"/>
                </a:lnTo>
                <a:lnTo>
                  <a:pt x="0" y="18920878"/>
                </a:lnTo>
                <a:lnTo>
                  <a:pt x="0" y="0"/>
                </a:lnTo>
                <a:close/>
              </a:path>
            </a:pathLst>
          </a:custGeom>
          <a:blipFill rotWithShape="1">
            <a:blip r:embed="rId4">
              <a:alphaModFix/>
            </a:blip>
            <a:stretch>
              <a:fillRect b="0" l="0" r="0" t="0"/>
            </a:stretch>
          </a:blipFill>
          <a:ln>
            <a:noFill/>
          </a:ln>
        </p:spPr>
        <p:txBody>
          <a:bodyPr/>
          <a:p/>
        </p:txBody>
      </p:sp>
      <p:sp>
        <p:nvSpPr>
          <p:cNvPr id="154" name="Google Shape;154;p6"/>
          <p:cNvSpPr txBox="1"/>
          <p:nvPr/>
        </p:nvSpPr>
        <p:spPr>
          <a:xfrm>
            <a:off x="1028700" y="866775"/>
            <a:ext cx="16002000" cy="1393326"/>
          </a:xfrm>
          <a:prstGeom prst="rect">
            <a:avLst/>
          </a:prstGeom>
          <a:noFill/>
          <a:ln>
            <a:noFill/>
          </a:ln>
        </p:spPr>
        <p:txBody>
          <a:bodyPr anchorCtr="0" anchor="t" bIns="0" lIns="0" spcFirstLastPara="1" rIns="0" wrap="square" tIns="0">
            <a:spAutoFit/>
          </a:bodyPr>
          <a:lstStyle/>
          <a:p>
            <a:pPr indent="0" lvl="0" marL="0" marR="0" rtl="0" algn="l">
              <a:lnSpc>
                <a:spcPct val="119992"/>
              </a:lnSpc>
              <a:spcBef>
                <a:spcPts val="0"/>
              </a:spcBef>
              <a:spcAft>
                <a:spcPts val="0"/>
              </a:spcAft>
              <a:buNone/>
            </a:pPr>
            <a:r>
              <a:rPr b="0" i="0" lang="en-US" sz="6600" u="none" cap="none" strike="noStrike">
                <a:solidFill>
                  <a:srgbClr val="5DE0E6"/>
                </a:solidFill>
                <a:latin typeface="Times"/>
                <a:ea typeface="Times"/>
                <a:cs typeface="Times"/>
                <a:sym typeface="Times"/>
              </a:rPr>
              <a:t>Screenshot of Your Project</a:t>
            </a:r>
            <a:endParaRPr/>
          </a:p>
        </p:txBody>
      </p:sp>
      <p:sp>
        <p:nvSpPr>
          <p:cNvPr id="155" name="Rounded Rectangle 154"/>
          <p:cNvSpPr/>
          <p:nvPr/>
        </p:nvSpPr>
        <p:spPr>
          <a:xfrm>
            <a:off x="1024127" y="2423160"/>
            <a:ext cx="7636976" cy="3383280"/>
          </a:xfrm>
          <a:prstGeom prst="roundRect">
            <a:avLst>
              <a:gd name="adj" fmla="val 3000"/>
            </a:avLst>
          </a:prstGeom>
          <a:solidFill>
            <a:srgbClr val="FFFFFF"/>
          </a:solidFill>
          <a:ln w="19050">
            <a:solidFill>
              <a:srgbClr val="B9DAE4"/>
            </a:solidFill>
          </a:ln>
        </p:spPr>
        <p:txBody>
          <a:bodyPr rtlCol="0" anchor="ctr"/>
          <a:lstStyle/>
          <a:p>
            <a:pPr algn="ctr"/>
          </a:p>
        </p:txBody>
      </p:sp>
      <p:pic>
        <p:nvPicPr>
          <p:cNvPr id="156" name="Picture 155" descr="n8n-workflow.png"/>
          <p:cNvPicPr>
            <a:picLocks noChangeAspect="1"/>
          </p:cNvPicPr>
          <p:nvPr/>
        </p:nvPicPr>
        <p:blipFill>
          <a:blip r:embed="rId5"/>
          <a:stretch>
            <a:fillRect/>
          </a:stretch>
        </p:blipFill>
        <p:spPr>
          <a:xfrm>
            <a:off x="1115568" y="2514600"/>
            <a:ext cx="7454096" cy="3200400"/>
          </a:xfrm>
          <a:prstGeom prst="rect">
            <a:avLst/>
          </a:prstGeom>
        </p:spPr>
      </p:pic>
      <p:sp>
        <p:nvSpPr>
          <p:cNvPr id="157" name="TextBox 156"/>
          <p:cNvSpPr txBox="1"/>
          <p:nvPr/>
        </p:nvSpPr>
        <p:spPr>
          <a:xfrm>
            <a:off x="1024127" y="5879592"/>
            <a:ext cx="7636976" cy="365760"/>
          </a:xfrm>
          <a:prstGeom prst="rect">
            <a:avLst/>
          </a:prstGeom>
          <a:noFill/>
        </p:spPr>
        <p:txBody>
          <a:bodyPr wrap="square" lIns="0" rIns="0" tIns="0" bIns="0" anchor="t">
            <a:spAutoFit/>
          </a:bodyPr>
          <a:lstStyle/>
          <a:p>
            <a:pPr algn="l">
              <a:spcAft>
                <a:spcPts val="0"/>
              </a:spcAft>
            </a:pPr>
            <a:r>
              <a:rPr sz="1800" b="0" i="1">
                <a:solidFill>
                  <a:srgbClr val="4B6578"/>
                </a:solidFill>
                <a:latin typeface="Calibri"/>
              </a:rPr>
              <a:t>n8n workflow: all five nodes ran successfully</a:t>
            </a:r>
          </a:p>
        </p:txBody>
      </p:sp>
      <p:sp>
        <p:nvSpPr>
          <p:cNvPr id="158" name="Rounded Rectangle 157"/>
          <p:cNvSpPr/>
          <p:nvPr/>
        </p:nvSpPr>
        <p:spPr>
          <a:xfrm>
            <a:off x="9026864" y="2423160"/>
            <a:ext cx="7143910" cy="3383280"/>
          </a:xfrm>
          <a:prstGeom prst="roundRect">
            <a:avLst>
              <a:gd name="adj" fmla="val 3000"/>
            </a:avLst>
          </a:prstGeom>
          <a:solidFill>
            <a:srgbClr val="FFFFFF"/>
          </a:solidFill>
          <a:ln w="19050">
            <a:solidFill>
              <a:srgbClr val="B9DAE4"/>
            </a:solidFill>
          </a:ln>
        </p:spPr>
        <p:txBody>
          <a:bodyPr rtlCol="0" anchor="ctr"/>
          <a:lstStyle/>
          <a:p>
            <a:pPr algn="ctr"/>
          </a:p>
        </p:txBody>
      </p:sp>
      <p:pic>
        <p:nvPicPr>
          <p:cNvPr id="159" name="Picture 158" descr="fairness-report.png"/>
          <p:cNvPicPr>
            <a:picLocks noChangeAspect="1"/>
          </p:cNvPicPr>
          <p:nvPr/>
        </p:nvPicPr>
        <p:blipFill>
          <a:blip r:embed="rId6"/>
          <a:stretch>
            <a:fillRect/>
          </a:stretch>
        </p:blipFill>
        <p:spPr>
          <a:xfrm>
            <a:off x="9118304" y="2514600"/>
            <a:ext cx="6961030" cy="3200400"/>
          </a:xfrm>
          <a:prstGeom prst="rect">
            <a:avLst/>
          </a:prstGeom>
        </p:spPr>
      </p:pic>
      <p:sp>
        <p:nvSpPr>
          <p:cNvPr id="160" name="TextBox 159"/>
          <p:cNvSpPr txBox="1"/>
          <p:nvPr/>
        </p:nvSpPr>
        <p:spPr>
          <a:xfrm>
            <a:off x="9026864" y="5879592"/>
            <a:ext cx="7143910" cy="365760"/>
          </a:xfrm>
          <a:prstGeom prst="rect">
            <a:avLst/>
          </a:prstGeom>
          <a:noFill/>
        </p:spPr>
        <p:txBody>
          <a:bodyPr wrap="square" lIns="0" rIns="0" tIns="0" bIns="0" anchor="t">
            <a:spAutoFit/>
          </a:bodyPr>
          <a:lstStyle/>
          <a:p>
            <a:pPr algn="l">
              <a:spcAft>
                <a:spcPts val="0"/>
              </a:spcAft>
            </a:pPr>
            <a:r>
              <a:rPr sz="1800" b="0" i="1">
                <a:solidFill>
                  <a:srgbClr val="4B6578"/>
                </a:solidFill>
                <a:latin typeface="Calibri"/>
              </a:rPr>
              <a:t>Fairness Report with Plan A vs Plan B comparison</a:t>
            </a:r>
          </a:p>
        </p:txBody>
      </p:sp>
      <p:sp>
        <p:nvSpPr>
          <p:cNvPr id="161" name="Rounded Rectangle 160"/>
          <p:cNvSpPr/>
          <p:nvPr/>
        </p:nvSpPr>
        <p:spPr>
          <a:xfrm>
            <a:off x="1024127" y="6309360"/>
            <a:ext cx="4092526" cy="3383280"/>
          </a:xfrm>
          <a:prstGeom prst="roundRect">
            <a:avLst>
              <a:gd name="adj" fmla="val 3000"/>
            </a:avLst>
          </a:prstGeom>
          <a:solidFill>
            <a:srgbClr val="FFFFFF"/>
          </a:solidFill>
          <a:ln w="19050">
            <a:solidFill>
              <a:srgbClr val="B9DAE4"/>
            </a:solidFill>
          </a:ln>
        </p:spPr>
        <p:txBody>
          <a:bodyPr rtlCol="0" anchor="ctr"/>
          <a:lstStyle/>
          <a:p>
            <a:pPr algn="ctr"/>
          </a:p>
        </p:txBody>
      </p:sp>
      <p:pic>
        <p:nvPicPr>
          <p:cNvPr id="162" name="Picture 161" descr="dispatch.png"/>
          <p:cNvPicPr>
            <a:picLocks noChangeAspect="1"/>
          </p:cNvPicPr>
          <p:nvPr/>
        </p:nvPicPr>
        <p:blipFill>
          <a:blip r:embed="rId7"/>
          <a:stretch>
            <a:fillRect/>
          </a:stretch>
        </p:blipFill>
        <p:spPr>
          <a:xfrm>
            <a:off x="1115568" y="6400800"/>
            <a:ext cx="3909646" cy="3200400"/>
          </a:xfrm>
          <a:prstGeom prst="rect">
            <a:avLst/>
          </a:prstGeom>
        </p:spPr>
      </p:pic>
      <p:sp>
        <p:nvSpPr>
          <p:cNvPr id="163" name="TextBox 162"/>
          <p:cNvSpPr txBox="1"/>
          <p:nvPr/>
        </p:nvSpPr>
        <p:spPr>
          <a:xfrm>
            <a:off x="1024127" y="9765792"/>
            <a:ext cx="4092526" cy="365760"/>
          </a:xfrm>
          <a:prstGeom prst="rect">
            <a:avLst/>
          </a:prstGeom>
          <a:noFill/>
        </p:spPr>
        <p:txBody>
          <a:bodyPr wrap="square" lIns="0" rIns="0" tIns="0" bIns="0" anchor="t">
            <a:spAutoFit/>
          </a:bodyPr>
          <a:lstStyle/>
          <a:p>
            <a:pPr algn="l">
              <a:spcAft>
                <a:spcPts val="0"/>
              </a:spcAft>
            </a:pPr>
            <a:r>
              <a:rPr sz="1800" b="0" i="1">
                <a:solidFill>
                  <a:srgbClr val="4B6578"/>
                </a:solidFill>
                <a:latin typeface="Calibri"/>
              </a:rPr>
              <a:t>Dispatch order (Plan B approved)</a:t>
            </a:r>
          </a:p>
        </p:txBody>
      </p:sp>
      <p:sp>
        <p:nvSpPr>
          <p:cNvPr id="164" name="Rounded Rectangle 163"/>
          <p:cNvSpPr/>
          <p:nvPr/>
        </p:nvSpPr>
        <p:spPr>
          <a:xfrm>
            <a:off x="5390974" y="6309360"/>
            <a:ext cx="2971463" cy="3383280"/>
          </a:xfrm>
          <a:prstGeom prst="roundRect">
            <a:avLst>
              <a:gd name="adj" fmla="val 3000"/>
            </a:avLst>
          </a:prstGeom>
          <a:solidFill>
            <a:srgbClr val="FFFFFF"/>
          </a:solidFill>
          <a:ln w="19050">
            <a:solidFill>
              <a:srgbClr val="B9DAE4"/>
            </a:solidFill>
          </a:ln>
        </p:spPr>
        <p:txBody>
          <a:bodyPr rtlCol="0" anchor="ctr"/>
          <a:lstStyle/>
          <a:p>
            <a:pPr algn="ctr"/>
          </a:p>
        </p:txBody>
      </p:sp>
      <p:pic>
        <p:nvPicPr>
          <p:cNvPr id="165" name="Picture 164" descr="nextpatcher.png"/>
          <p:cNvPicPr>
            <a:picLocks noChangeAspect="1"/>
          </p:cNvPicPr>
          <p:nvPr/>
        </p:nvPicPr>
        <p:blipFill>
          <a:blip r:embed="rId8"/>
          <a:stretch>
            <a:fillRect/>
          </a:stretch>
        </p:blipFill>
        <p:spPr>
          <a:xfrm>
            <a:off x="5482414" y="6400800"/>
            <a:ext cx="2788583" cy="3200400"/>
          </a:xfrm>
          <a:prstGeom prst="rect">
            <a:avLst/>
          </a:prstGeom>
        </p:spPr>
      </p:pic>
      <p:sp>
        <p:nvSpPr>
          <p:cNvPr id="166" name="TextBox 165"/>
          <p:cNvSpPr txBox="1"/>
          <p:nvPr/>
        </p:nvSpPr>
        <p:spPr>
          <a:xfrm>
            <a:off x="5390974" y="9765792"/>
            <a:ext cx="2971463" cy="365760"/>
          </a:xfrm>
          <a:prstGeom prst="rect">
            <a:avLst/>
          </a:prstGeom>
          <a:noFill/>
        </p:spPr>
        <p:txBody>
          <a:bodyPr wrap="square" lIns="0" rIns="0" tIns="0" bIns="0" anchor="t">
            <a:spAutoFit/>
          </a:bodyPr>
          <a:lstStyle/>
          <a:p>
            <a:pPr algn="l">
              <a:spcAft>
                <a:spcPts val="0"/>
              </a:spcAft>
            </a:pPr>
            <a:r>
              <a:rPr sz="1800" b="0" i="1">
                <a:solidFill>
                  <a:srgbClr val="4B6578"/>
                </a:solidFill>
                <a:latin typeface="Calibri"/>
              </a:rPr>
              <a:t>Updated fairness-debt ledger</a:t>
            </a:r>
          </a:p>
        </p:txBody>
      </p:sp>
      <p:sp>
        <p:nvSpPr>
          <p:cNvPr id="167" name="Rounded Rectangle 166"/>
          <p:cNvSpPr/>
          <p:nvPr/>
        </p:nvSpPr>
        <p:spPr>
          <a:xfrm>
            <a:off x="8819637" y="6309360"/>
            <a:ext cx="8444234" cy="3383280"/>
          </a:xfrm>
          <a:prstGeom prst="roundRect">
            <a:avLst>
              <a:gd name="adj" fmla="val 6000"/>
            </a:avLst>
          </a:prstGeom>
          <a:solidFill>
            <a:srgbClr val="0F2A44"/>
          </a:solidFill>
          <a:ln>
            <a:noFill/>
          </a:ln>
        </p:spPr>
        <p:txBody>
          <a:bodyPr rtlCol="0" anchor="ctr"/>
          <a:lstStyle/>
          <a:p>
            <a:pPr algn="ctr"/>
          </a:p>
        </p:txBody>
      </p:sp>
      <p:sp>
        <p:nvSpPr>
          <p:cNvPr id="168" name="TextBox 167"/>
          <p:cNvSpPr txBox="1"/>
          <p:nvPr/>
        </p:nvSpPr>
        <p:spPr>
          <a:xfrm>
            <a:off x="9139677" y="6492240"/>
            <a:ext cx="7804154" cy="457200"/>
          </a:xfrm>
          <a:prstGeom prst="rect">
            <a:avLst/>
          </a:prstGeom>
          <a:noFill/>
        </p:spPr>
        <p:txBody>
          <a:bodyPr wrap="square" lIns="0" rIns="0" tIns="0" bIns="0" anchor="t">
            <a:spAutoFit/>
          </a:bodyPr>
          <a:lstStyle/>
          <a:p>
            <a:pPr algn="l">
              <a:spcAft>
                <a:spcPts val="0"/>
              </a:spcAft>
            </a:pPr>
            <a:r>
              <a:rPr sz="2500" b="1" i="0">
                <a:solidFill>
                  <a:srgbClr val="5DE0E6"/>
                </a:solidFill>
                <a:latin typeface="Cambria"/>
              </a:rPr>
              <a:t>What the run shows</a:t>
            </a:r>
          </a:p>
        </p:txBody>
      </p:sp>
      <p:sp>
        <p:nvSpPr>
          <p:cNvPr id="169" name="TextBox 168"/>
          <p:cNvSpPr txBox="1"/>
          <p:nvPr/>
        </p:nvSpPr>
        <p:spPr>
          <a:xfrm>
            <a:off x="9139677" y="7086600"/>
            <a:ext cx="7804154" cy="2468880"/>
          </a:xfrm>
          <a:prstGeom prst="rect">
            <a:avLst/>
          </a:prstGeom>
          <a:noFill/>
        </p:spPr>
        <p:txBody>
          <a:bodyPr wrap="square" lIns="0" rIns="0" tIns="0" bIns="0" anchor="t">
            <a:spAutoFit/>
          </a:bodyPr>
          <a:lstStyle/>
          <a:p>
            <a:pPr algn="l">
              <a:spcAft>
                <a:spcPts val="900"/>
              </a:spcAft>
            </a:pPr>
            <a:r>
              <a:rPr sz="1900" b="0" i="0">
                <a:solidFill>
                  <a:srgbClr val="FFFFFF"/>
                </a:solidFill>
                <a:latin typeface="Calibri"/>
              </a:rPr>
              <a:t>Plan B is recommended: the worst-covered ward gets 53% versus 0% under Plan A.</a:t>
            </a:r>
          </a:p>
          <a:p>
            <a:pPr algn="l">
              <a:spcAft>
                <a:spcPts val="900"/>
              </a:spcAft>
            </a:pPr>
            <a:r>
              <a:rPr sz="1900" b="0" i="0">
                <a:solidFill>
                  <a:srgbClr val="FFFFFF"/>
                </a:solidFill>
                <a:latin typeface="Calibri"/>
              </a:rPr>
              <a:t>Old Town's fairness debt falls from 0.8 to 0.49 once it is served.</a:t>
            </a:r>
          </a:p>
          <a:p>
            <a:pPr algn="l">
              <a:spcAft>
                <a:spcPts val="900"/>
              </a:spcAft>
            </a:pPr>
            <a:r>
              <a:rPr sz="1900" b="0" i="0">
                <a:solidFill>
                  <a:srgbClr val="FFFFFF"/>
                </a:solidFill>
                <a:latin typeface="Calibri"/>
              </a:rPr>
              <a:t>East Colony is unreachable, so its debt carries over to the next cycle.</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1427" l="-7180" r="-3000" t="-19076"/>
            </a:stretch>
          </a:blipFill>
          <a:ln>
            <a:noFill/>
          </a:ln>
        </p:spPr>
        <p:txBody>
          <a:bodyPr/>
          <a:p/>
        </p:txBody>
      </p:sp>
      <p:sp>
        <p:nvSpPr>
          <p:cNvPr id="160" name="Google Shape;160;p7"/>
          <p:cNvSpPr/>
          <p:nvPr/>
        </p:nvSpPr>
        <p:spPr>
          <a:xfrm>
            <a:off x="5317038" y="-4518398"/>
            <a:ext cx="22188662" cy="18920878"/>
          </a:xfrm>
          <a:custGeom>
            <a:rect b="b" l="l" r="r" t="t"/>
            <a:pathLst>
              <a:path extrusionOk="0" h="18920878" w="22188662">
                <a:moveTo>
                  <a:pt x="0" y="0"/>
                </a:moveTo>
                <a:lnTo>
                  <a:pt x="22188663" y="0"/>
                </a:lnTo>
                <a:lnTo>
                  <a:pt x="22188663" y="18920878"/>
                </a:lnTo>
                <a:lnTo>
                  <a:pt x="0" y="18920878"/>
                </a:lnTo>
                <a:lnTo>
                  <a:pt x="0" y="0"/>
                </a:lnTo>
                <a:close/>
              </a:path>
            </a:pathLst>
          </a:custGeom>
          <a:blipFill rotWithShape="1">
            <a:blip r:embed="rId4">
              <a:alphaModFix/>
            </a:blip>
            <a:stretch>
              <a:fillRect b="0" l="0" r="0" t="0"/>
            </a:stretch>
          </a:blipFill>
          <a:ln>
            <a:noFill/>
          </a:ln>
        </p:spPr>
        <p:txBody>
          <a:bodyPr/>
          <a:p/>
        </p:txBody>
      </p:sp>
      <p:sp>
        <p:nvSpPr>
          <p:cNvPr id="161" name="Google Shape;161;p7"/>
          <p:cNvSpPr txBox="1"/>
          <p:nvPr/>
        </p:nvSpPr>
        <p:spPr>
          <a:xfrm>
            <a:off x="1028700" y="866775"/>
            <a:ext cx="16002000" cy="1393326"/>
          </a:xfrm>
          <a:prstGeom prst="rect">
            <a:avLst/>
          </a:prstGeom>
          <a:noFill/>
          <a:ln>
            <a:noFill/>
          </a:ln>
        </p:spPr>
        <p:txBody>
          <a:bodyPr anchorCtr="0" anchor="t" bIns="0" lIns="0" spcFirstLastPara="1" rIns="0" wrap="square" tIns="0">
            <a:spAutoFit/>
          </a:bodyPr>
          <a:lstStyle/>
          <a:p>
            <a:pPr indent="0" lvl="0" marL="0" marR="0" rtl="0" algn="l">
              <a:lnSpc>
                <a:spcPct val="119992"/>
              </a:lnSpc>
              <a:spcBef>
                <a:spcPts val="0"/>
              </a:spcBef>
              <a:spcAft>
                <a:spcPts val="0"/>
              </a:spcAft>
              <a:buNone/>
            </a:pPr>
            <a:r>
              <a:rPr b="0" i="0" lang="en-US" sz="6600" u="none" cap="none" strike="noStrike">
                <a:solidFill>
                  <a:srgbClr val="5DE0E6"/>
                </a:solidFill>
                <a:latin typeface="Times"/>
                <a:ea typeface="Times"/>
                <a:cs typeface="Times"/>
                <a:sym typeface="Times"/>
              </a:rPr>
              <a:t>Others</a:t>
            </a:r>
            <a:endParaRPr/>
          </a:p>
        </p:txBody>
      </p:sp>
      <p:sp>
        <p:nvSpPr>
          <p:cNvPr id="162" name="Rounded Rectangle 161"/>
          <p:cNvSpPr/>
          <p:nvPr/>
        </p:nvSpPr>
        <p:spPr>
          <a:xfrm>
            <a:off x="1024128" y="2377440"/>
            <a:ext cx="7982712" cy="30632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63" name="TextBox 162"/>
          <p:cNvSpPr txBox="1"/>
          <p:nvPr/>
        </p:nvSpPr>
        <p:spPr>
          <a:xfrm>
            <a:off x="1389888" y="2606040"/>
            <a:ext cx="7223760" cy="548640"/>
          </a:xfrm>
          <a:prstGeom prst="rect">
            <a:avLst/>
          </a:prstGeom>
          <a:noFill/>
        </p:spPr>
        <p:txBody>
          <a:bodyPr wrap="square" lIns="0" rIns="0" tIns="0" bIns="0" anchor="t">
            <a:spAutoFit/>
          </a:bodyPr>
          <a:lstStyle/>
          <a:p>
            <a:pPr algn="l">
              <a:spcAft>
                <a:spcPts val="0"/>
              </a:spcAft>
            </a:pPr>
            <a:r>
              <a:rPr sz="2800" b="1" i="0">
                <a:solidFill>
                  <a:srgbClr val="0F2A44"/>
                </a:solidFill>
                <a:latin typeface="Cambria"/>
              </a:rPr>
              <a:t>Design goals for the prototype</a:t>
            </a:r>
          </a:p>
        </p:txBody>
      </p:sp>
      <p:sp>
        <p:nvSpPr>
          <p:cNvPr id="164" name="TextBox 163"/>
          <p:cNvSpPr txBox="1"/>
          <p:nvPr/>
        </p:nvSpPr>
        <p:spPr>
          <a:xfrm>
            <a:off x="1389888" y="3291840"/>
            <a:ext cx="7223760" cy="2103120"/>
          </a:xfrm>
          <a:prstGeom prst="rect">
            <a:avLst/>
          </a:prstGeom>
          <a:noFill/>
        </p:spPr>
        <p:txBody>
          <a:bodyPr wrap="square" lIns="0" rIns="0" tIns="0" bIns="0" anchor="t">
            <a:spAutoFit/>
          </a:bodyPr>
          <a:lstStyle/>
          <a:p>
            <a:pPr algn="l">
              <a:spcAft>
                <a:spcPts val="900"/>
              </a:spcAft>
            </a:pPr>
            <a:r>
              <a:rPr sz="2100" b="0" i="0">
                <a:solidFill>
                  <a:srgbClr val="4B6578"/>
                </a:solidFill>
                <a:latin typeface="Calibri"/>
              </a:rPr>
              <a:t>Plan generation in under a minute per cycle</a:t>
            </a:r>
          </a:p>
          <a:p>
            <a:pPr algn="l">
              <a:spcAft>
                <a:spcPts val="900"/>
              </a:spcAft>
            </a:pPr>
            <a:r>
              <a:rPr sz="2100" b="0" i="0">
                <a:solidFill>
                  <a:srgbClr val="4B6578"/>
                </a:solidFill>
                <a:latin typeface="Calibri"/>
              </a:rPr>
              <a:t>Every recommendation replayable from saved inputs</a:t>
            </a:r>
          </a:p>
          <a:p>
            <a:pPr algn="l">
              <a:spcAft>
                <a:spcPts val="900"/>
              </a:spcAft>
            </a:pPr>
            <a:r>
              <a:rPr sz="2100" b="0" i="0">
                <a:solidFill>
                  <a:srgbClr val="4B6578"/>
                </a:solidFill>
                <a:latin typeface="Calibri"/>
              </a:rPr>
              <a:t>No ward left underserved for three cycles in a row</a:t>
            </a:r>
          </a:p>
        </p:txBody>
      </p:sp>
      <p:sp>
        <p:nvSpPr>
          <p:cNvPr id="165" name="Rounded Rectangle 164"/>
          <p:cNvSpPr/>
          <p:nvPr/>
        </p:nvSpPr>
        <p:spPr>
          <a:xfrm>
            <a:off x="9281159" y="2377440"/>
            <a:ext cx="7982712" cy="30632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66" name="TextBox 165"/>
          <p:cNvSpPr txBox="1"/>
          <p:nvPr/>
        </p:nvSpPr>
        <p:spPr>
          <a:xfrm>
            <a:off x="9646919" y="2606040"/>
            <a:ext cx="7223760" cy="548640"/>
          </a:xfrm>
          <a:prstGeom prst="rect">
            <a:avLst/>
          </a:prstGeom>
          <a:noFill/>
        </p:spPr>
        <p:txBody>
          <a:bodyPr wrap="square" lIns="0" rIns="0" tIns="0" bIns="0" anchor="t">
            <a:spAutoFit/>
          </a:bodyPr>
          <a:lstStyle/>
          <a:p>
            <a:pPr algn="l">
              <a:spcAft>
                <a:spcPts val="0"/>
              </a:spcAft>
            </a:pPr>
            <a:r>
              <a:rPr sz="2800" b="1" i="0">
                <a:solidFill>
                  <a:srgbClr val="0F2A44"/>
                </a:solidFill>
                <a:latin typeface="Cambria"/>
              </a:rPr>
              <a:t>Ethics and accountability</a:t>
            </a:r>
          </a:p>
        </p:txBody>
      </p:sp>
      <p:sp>
        <p:nvSpPr>
          <p:cNvPr id="167" name="TextBox 166"/>
          <p:cNvSpPr txBox="1"/>
          <p:nvPr/>
        </p:nvSpPr>
        <p:spPr>
          <a:xfrm>
            <a:off x="9646919" y="3291840"/>
            <a:ext cx="7223760" cy="2103120"/>
          </a:xfrm>
          <a:prstGeom prst="rect">
            <a:avLst/>
          </a:prstGeom>
          <a:noFill/>
        </p:spPr>
        <p:txBody>
          <a:bodyPr wrap="square" lIns="0" rIns="0" tIns="0" bIns="0" anchor="t">
            <a:spAutoFit/>
          </a:bodyPr>
          <a:lstStyle/>
          <a:p>
            <a:pPr algn="l">
              <a:spcAft>
                <a:spcPts val="900"/>
              </a:spcAft>
            </a:pPr>
            <a:r>
              <a:rPr sz="2100" b="0" i="0">
                <a:solidFill>
                  <a:srgbClr val="4B6578"/>
                </a:solidFill>
                <a:latin typeface="Calibri"/>
              </a:rPr>
              <a:t>Fairness is made visible and adjustable, not claimed</a:t>
            </a:r>
          </a:p>
          <a:p>
            <a:pPr algn="l">
              <a:spcAft>
                <a:spcPts val="900"/>
              </a:spcAft>
            </a:pPr>
            <a:r>
              <a:rPr sz="2100" b="0" i="0">
                <a:solidFill>
                  <a:srgbClr val="4B6578"/>
                </a:solidFill>
                <a:latin typeface="Calibri"/>
              </a:rPr>
              <a:t>The officer picks the policy and approves every plan</a:t>
            </a:r>
          </a:p>
          <a:p>
            <a:pPr algn="l">
              <a:spcAft>
                <a:spcPts val="900"/>
              </a:spcAft>
            </a:pPr>
            <a:r>
              <a:rPr sz="2100" b="0" i="0">
                <a:solidFill>
                  <a:srgbClr val="4B6578"/>
                </a:solidFill>
                <a:latin typeface="Calibri"/>
              </a:rPr>
              <a:t>Audit log, rule versions and replay for each decision</a:t>
            </a:r>
          </a:p>
          <a:p>
            <a:pPr algn="l">
              <a:spcAft>
                <a:spcPts val="900"/>
              </a:spcAft>
            </a:pPr>
            <a:r>
              <a:rPr sz="2100" b="0" i="0">
                <a:solidFill>
                  <a:srgbClr val="4B6578"/>
                </a:solidFill>
                <a:latin typeface="Calibri"/>
              </a:rPr>
              <a:t>No personal identifiers in the data</a:t>
            </a:r>
          </a:p>
        </p:txBody>
      </p:sp>
      <p:sp>
        <p:nvSpPr>
          <p:cNvPr id="168" name="Rounded Rectangle 167"/>
          <p:cNvSpPr/>
          <p:nvPr/>
        </p:nvSpPr>
        <p:spPr>
          <a:xfrm>
            <a:off x="1024128" y="5715000"/>
            <a:ext cx="7982712" cy="30632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69" name="TextBox 168"/>
          <p:cNvSpPr txBox="1"/>
          <p:nvPr/>
        </p:nvSpPr>
        <p:spPr>
          <a:xfrm>
            <a:off x="1389888" y="5943600"/>
            <a:ext cx="7223760" cy="548640"/>
          </a:xfrm>
          <a:prstGeom prst="rect">
            <a:avLst/>
          </a:prstGeom>
          <a:noFill/>
        </p:spPr>
        <p:txBody>
          <a:bodyPr wrap="square" lIns="0" rIns="0" tIns="0" bIns="0" anchor="t">
            <a:spAutoFit/>
          </a:bodyPr>
          <a:lstStyle/>
          <a:p>
            <a:pPr algn="l">
              <a:spcAft>
                <a:spcPts val="0"/>
              </a:spcAft>
            </a:pPr>
            <a:r>
              <a:rPr sz="2800" b="1" i="0">
                <a:solidFill>
                  <a:srgbClr val="0F2A44"/>
                </a:solidFill>
                <a:latin typeface="Cambria"/>
              </a:rPr>
              <a:t>Where else it applies</a:t>
            </a:r>
          </a:p>
        </p:txBody>
      </p:sp>
      <p:sp>
        <p:nvSpPr>
          <p:cNvPr id="170" name="TextBox 169"/>
          <p:cNvSpPr txBox="1"/>
          <p:nvPr/>
        </p:nvSpPr>
        <p:spPr>
          <a:xfrm>
            <a:off x="1389888" y="6629400"/>
            <a:ext cx="7223760" cy="2103120"/>
          </a:xfrm>
          <a:prstGeom prst="rect">
            <a:avLst/>
          </a:prstGeom>
          <a:noFill/>
        </p:spPr>
        <p:txBody>
          <a:bodyPr wrap="square" lIns="0" rIns="0" tIns="0" bIns="0" anchor="t">
            <a:spAutoFit/>
          </a:bodyPr>
          <a:lstStyle/>
          <a:p>
            <a:pPr algn="l">
              <a:spcAft>
                <a:spcPts val="900"/>
              </a:spcAft>
            </a:pPr>
            <a:r>
              <a:rPr sz="2100" b="0" i="0">
                <a:solidFill>
                  <a:srgbClr val="4B6578"/>
                </a:solidFill>
                <a:latin typeface="Calibri"/>
              </a:rPr>
              <a:t>Water tanker allocation across wards</a:t>
            </a:r>
          </a:p>
          <a:p>
            <a:pPr algn="l">
              <a:spcAft>
                <a:spcPts val="900"/>
              </a:spcAft>
            </a:pPr>
            <a:r>
              <a:rPr sz="2100" b="0" i="0">
                <a:solidFill>
                  <a:srgbClr val="4B6578"/>
                </a:solidFill>
                <a:latin typeface="Calibri"/>
              </a:rPr>
              <a:t>Ration and relief-camp supplies</a:t>
            </a:r>
          </a:p>
          <a:p>
            <a:pPr algn="l">
              <a:spcAft>
                <a:spcPts val="900"/>
              </a:spcAft>
            </a:pPr>
            <a:r>
              <a:rPr sz="2100" b="0" i="0">
                <a:solidFill>
                  <a:srgbClr val="4B6578"/>
                </a:solidFill>
                <a:latin typeface="Calibri"/>
              </a:rPr>
              <a:t>Ambulance and shelter allocation</a:t>
            </a:r>
          </a:p>
          <a:p>
            <a:pPr algn="l">
              <a:spcAft>
                <a:spcPts val="900"/>
              </a:spcAft>
            </a:pPr>
            <a:r>
              <a:rPr sz="2100" b="0" i="0">
                <a:solidFill>
                  <a:srgbClr val="4B6578"/>
                </a:solidFill>
                <a:latin typeface="Calibri"/>
              </a:rPr>
              <a:t>Vaccine and medicine distribution</a:t>
            </a:r>
          </a:p>
        </p:txBody>
      </p:sp>
      <p:sp>
        <p:nvSpPr>
          <p:cNvPr id="171" name="Rounded Rectangle 170"/>
          <p:cNvSpPr/>
          <p:nvPr/>
        </p:nvSpPr>
        <p:spPr>
          <a:xfrm>
            <a:off x="9281159" y="5715000"/>
            <a:ext cx="7982712" cy="3063240"/>
          </a:xfrm>
          <a:prstGeom prst="roundRect">
            <a:avLst>
              <a:gd name="adj" fmla="val 6000"/>
            </a:avLst>
          </a:prstGeom>
          <a:solidFill>
            <a:srgbClr val="FFFFFF"/>
          </a:solidFill>
          <a:ln w="19050">
            <a:solidFill>
              <a:srgbClr val="B9DAE4"/>
            </a:solidFill>
          </a:ln>
        </p:spPr>
        <p:txBody>
          <a:bodyPr rtlCol="0" anchor="ctr"/>
          <a:lstStyle/>
          <a:p>
            <a:pPr algn="ctr"/>
          </a:p>
        </p:txBody>
      </p:sp>
      <p:sp>
        <p:nvSpPr>
          <p:cNvPr id="172" name="TextBox 171"/>
          <p:cNvSpPr txBox="1"/>
          <p:nvPr/>
        </p:nvSpPr>
        <p:spPr>
          <a:xfrm>
            <a:off x="9646919" y="5943600"/>
            <a:ext cx="7223760" cy="548640"/>
          </a:xfrm>
          <a:prstGeom prst="rect">
            <a:avLst/>
          </a:prstGeom>
          <a:noFill/>
        </p:spPr>
        <p:txBody>
          <a:bodyPr wrap="square" lIns="0" rIns="0" tIns="0" bIns="0" anchor="t">
            <a:spAutoFit/>
          </a:bodyPr>
          <a:lstStyle/>
          <a:p>
            <a:pPr algn="l">
              <a:spcAft>
                <a:spcPts val="0"/>
              </a:spcAft>
            </a:pPr>
            <a:r>
              <a:rPr sz="2800" b="1" i="0">
                <a:solidFill>
                  <a:srgbClr val="0F2A44"/>
                </a:solidFill>
                <a:latin typeface="Cambria"/>
              </a:rPr>
              <a:t>24-hour build plan</a:t>
            </a:r>
          </a:p>
        </p:txBody>
      </p:sp>
      <p:sp>
        <p:nvSpPr>
          <p:cNvPr id="173" name="TextBox 172"/>
          <p:cNvSpPr txBox="1"/>
          <p:nvPr/>
        </p:nvSpPr>
        <p:spPr>
          <a:xfrm>
            <a:off x="9646919" y="6629400"/>
            <a:ext cx="7223760" cy="2103120"/>
          </a:xfrm>
          <a:prstGeom prst="rect">
            <a:avLst/>
          </a:prstGeom>
          <a:noFill/>
        </p:spPr>
        <p:txBody>
          <a:bodyPr wrap="square" lIns="0" rIns="0" tIns="0" bIns="0" anchor="t">
            <a:spAutoFit/>
          </a:bodyPr>
          <a:lstStyle/>
          <a:p>
            <a:pPr algn="l">
              <a:spcAft>
                <a:spcPts val="900"/>
              </a:spcAft>
            </a:pPr>
            <a:r>
              <a:rPr sz="2100" b="0" i="0">
                <a:solidFill>
                  <a:srgbClr val="4B6578"/>
                </a:solidFill>
                <a:latin typeface="Calibri"/>
              </a:rPr>
              <a:t>Built: scoring, road-aware routing, Plan A and B, Fairness Report, ledger update</a:t>
            </a:r>
          </a:p>
          <a:p>
            <a:pPr algn="l">
              <a:spcAft>
                <a:spcPts val="900"/>
              </a:spcAft>
            </a:pPr>
            <a:r>
              <a:rPr sz="2100" b="0" i="0">
                <a:solidFill>
                  <a:srgbClr val="4B6578"/>
                </a:solidFill>
                <a:latin typeface="Calibri"/>
              </a:rPr>
              <a:t>Next: Telegram approval, LLM report wording, Google Sheets, replay view</a:t>
            </a:r>
          </a:p>
          <a:p>
            <a:pPr algn="l">
              <a:spcAft>
                <a:spcPts val="900"/>
              </a:spcAft>
            </a:pPr>
            <a:r>
              <a:rPr sz="2100" b="0" i="0">
                <a:solidFill>
                  <a:srgbClr val="4B6578"/>
                </a:solidFill>
                <a:latin typeface="Calibri"/>
              </a:rPr>
              <a:t>Out of scope: real sensors and live logistics APIs</a:t>
            </a:r>
          </a:p>
        </p:txBody>
      </p:sp>
      <p:sp>
        <p:nvSpPr>
          <p:cNvPr id="174" name="Rounded Rectangle 173"/>
          <p:cNvSpPr/>
          <p:nvPr/>
        </p:nvSpPr>
        <p:spPr>
          <a:xfrm>
            <a:off x="1024128" y="8915400"/>
            <a:ext cx="16239744" cy="548640"/>
          </a:xfrm>
          <a:prstGeom prst="roundRect">
            <a:avLst>
              <a:gd name="adj" fmla="val 6000"/>
            </a:avLst>
          </a:prstGeom>
          <a:solidFill>
            <a:srgbClr val="E8F4F7"/>
          </a:solidFill>
          <a:ln w="19050">
            <a:solidFill>
              <a:srgbClr val="0E8C8C"/>
            </a:solidFill>
          </a:ln>
        </p:spPr>
        <p:txBody>
          <a:bodyPr rtlCol="0" anchor="ctr"/>
          <a:lstStyle/>
          <a:p>
            <a:pPr algn="ctr"/>
          </a:p>
        </p:txBody>
      </p:sp>
      <p:sp>
        <p:nvSpPr>
          <p:cNvPr id="175" name="TextBox 174"/>
          <p:cNvSpPr txBox="1"/>
          <p:nvPr/>
        </p:nvSpPr>
        <p:spPr>
          <a:xfrm>
            <a:off x="1280160" y="8915400"/>
            <a:ext cx="15727680" cy="548640"/>
          </a:xfrm>
          <a:prstGeom prst="rect">
            <a:avLst/>
          </a:prstGeom>
          <a:noFill/>
        </p:spPr>
        <p:txBody>
          <a:bodyPr wrap="square" lIns="0" rIns="0" tIns="0" bIns="0" anchor="ctr">
            <a:spAutoFit/>
          </a:bodyPr>
          <a:lstStyle/>
          <a:p>
            <a:pPr algn="ctr">
              <a:spcAft>
                <a:spcPts val="0"/>
              </a:spcAft>
            </a:pPr>
            <a:r>
              <a:rPr sz="2200" b="1" i="0">
                <a:solidFill>
                  <a:srgbClr val="0F2A44"/>
                </a:solidFill>
                <a:latin typeface="Calibri"/>
              </a:rPr>
              <a:t>GitHub repository:  </a:t>
            </a:r>
            <a:r>
              <a:rPr sz="2200" b="0" i="0">
                <a:solidFill>
                  <a:srgbClr val="0F2A44"/>
                </a:solidFill>
                <a:latin typeface="Calibri"/>
                <a:hlinkClick r:id="rId5"/>
              </a:rPr>
              <a:t>https://github.com/bhavanabs2006bs/luxe-logic-fairness-engine</a:t>
            </a:r>
          </a:p>
        </p:txBody>
      </p:sp>
      <p:sp>
        <p:nvSpPr>
          <p:cNvPr id="176" name="Rounded Rectangle 175"/>
          <p:cNvSpPr/>
          <p:nvPr/>
        </p:nvSpPr>
        <p:spPr>
          <a:xfrm>
            <a:off x="1024128" y="9555480"/>
            <a:ext cx="16239744" cy="640080"/>
          </a:xfrm>
          <a:prstGeom prst="roundRect">
            <a:avLst>
              <a:gd name="adj" fmla="val 6000"/>
            </a:avLst>
          </a:prstGeom>
          <a:solidFill>
            <a:srgbClr val="0F2A44"/>
          </a:solidFill>
          <a:ln>
            <a:noFill/>
          </a:ln>
        </p:spPr>
        <p:txBody>
          <a:bodyPr rtlCol="0" anchor="ctr"/>
          <a:lstStyle/>
          <a:p>
            <a:pPr algn="ctr"/>
          </a:p>
        </p:txBody>
      </p:sp>
      <p:sp>
        <p:nvSpPr>
          <p:cNvPr id="177" name="TextBox 176"/>
          <p:cNvSpPr txBox="1"/>
          <p:nvPr/>
        </p:nvSpPr>
        <p:spPr>
          <a:xfrm>
            <a:off x="1280160" y="9555480"/>
            <a:ext cx="15727680" cy="640080"/>
          </a:xfrm>
          <a:prstGeom prst="rect">
            <a:avLst/>
          </a:prstGeom>
          <a:noFill/>
        </p:spPr>
        <p:txBody>
          <a:bodyPr wrap="square" lIns="0" rIns="0" tIns="0" bIns="0" anchor="ctr">
            <a:spAutoFit/>
          </a:bodyPr>
          <a:lstStyle/>
          <a:p>
            <a:pPr algn="ctr">
              <a:spcAft>
                <a:spcPts val="0"/>
              </a:spcAft>
            </a:pPr>
            <a:r>
              <a:rPr sz="2200" b="1" i="0">
                <a:solidFill>
                  <a:srgbClr val="5DE0E6"/>
                </a:solidFill>
                <a:latin typeface="Cambria"/>
              </a:rPr>
              <a:t>Team Luxe Logic</a:t>
            </a:r>
            <a:r>
              <a:rPr sz="2200" b="0" i="0">
                <a:solidFill>
                  <a:srgbClr val="FFFFFF"/>
                </a:solidFill>
                <a:latin typeface="Calibri"/>
              </a:rPr>
              <a:t>   |   Bhavana B S  ·  Meghana K S   |   PS22 – AI Automation with n8n</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